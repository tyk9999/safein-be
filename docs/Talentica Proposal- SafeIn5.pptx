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341" r:id="rId3"/>
    <p:sldId id="313" r:id="rId4"/>
    <p:sldId id="346" r:id="rId5"/>
    <p:sldId id="347" r:id="rId6"/>
    <p:sldId id="348" r:id="rId7"/>
    <p:sldId id="349" r:id="rId8"/>
    <p:sldId id="356" r:id="rId9"/>
    <p:sldId id="350" r:id="rId10"/>
    <p:sldId id="338" r:id="rId11"/>
    <p:sldId id="351" r:id="rId12"/>
    <p:sldId id="352" r:id="rId13"/>
    <p:sldId id="373" r:id="rId14"/>
    <p:sldId id="372" r:id="rId15"/>
    <p:sldId id="369" r:id="rId16"/>
    <p:sldId id="353" r:id="rId17"/>
    <p:sldId id="360" r:id="rId18"/>
    <p:sldId id="361" r:id="rId19"/>
    <p:sldId id="362" r:id="rId20"/>
    <p:sldId id="370" r:id="rId21"/>
    <p:sldId id="357" r:id="rId22"/>
    <p:sldId id="364" r:id="rId23"/>
    <p:sldId id="365" r:id="rId24"/>
    <p:sldId id="374" r:id="rId25"/>
    <p:sldId id="367" r:id="rId26"/>
    <p:sldId id="371" r:id="rId27"/>
    <p:sldId id="366" r:id="rId28"/>
    <p:sldId id="355" r:id="rId29"/>
  </p:sldIdLst>
  <p:sldSz cx="14630400" cy="8229600"/>
  <p:notesSz cx="8229600" cy="14630400"/>
  <p:embeddedFontLst>
    <p:embeddedFont>
      <p:font typeface="Andale Mono" panose="020B0509000000000004" pitchFamily="49" charset="0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Montserrat Semi Bold" panose="02000505000000020004" pitchFamily="2" charset="77"/>
      <p:regular r:id="rId36"/>
      <p:bold r:id="rId37"/>
    </p:embeddedFont>
    <p:embeddedFont>
      <p:font typeface="Open Sans" panose="020B0606030504020204" pitchFamily="34" charset="0"/>
      <p:regular r:id="rId38"/>
    </p:embeddedFont>
    <p:embeddedFont>
      <p:font typeface="Open Sans Medium" panose="020B0606030504020204" pitchFamily="34" charset="0"/>
      <p:regular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1029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BA7F0-4160-78E7-2B37-4C4539AD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E1091-4628-A2F8-8F86-574AF45EE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B85C7F-6EA5-7357-A4A3-494E7E71A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F30EA-B85F-78E6-E193-43B309E40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5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0924F-3FD2-0A80-E6C7-AFEC5854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3C5F5-0831-20D2-10F6-9E5B20550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7BBD-CE6F-516F-82B2-883DA00B7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6801C-C788-0C73-EFCD-F763842AD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87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430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783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99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2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21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403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8FF60-87CA-2AFE-8FD2-E3E1B64D5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0DDE2A-D54F-5799-5962-B28ABFFDB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93B70-ECED-E107-2F9A-1B6AAB39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0A1C9F-40AB-A1F2-4939-1AEF58BEE0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091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9403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694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69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71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07F-DE62-B836-8C21-B39E7775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85C94-A36F-6547-EDAE-30708A1C4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4B73F-398F-728E-09A3-11E19462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973FF-EDD2-F035-7B5A-E4F34B173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507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758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484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54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4502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07F-DE62-B836-8C21-B39E7775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85C94-A36F-6547-EDAE-30708A1C4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4B73F-398F-728E-09A3-11E19462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973FF-EDD2-F035-7B5A-E4F34B173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739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92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184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148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5556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33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7707F-DE62-B836-8C21-B39E7775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585C94-A36F-6547-EDAE-30708A1C4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4B73F-398F-728E-09A3-11E194621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973FF-EDD2-F035-7B5A-E4F34B1735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42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504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71EE-C566-537F-7B4E-CF27419B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669A7-3FDE-7F6C-3E9A-E2A65318F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E0F79-5098-C0B3-6F82-1FB5EF435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1C2C1-FEC2-A409-B8E3-E8AE309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1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593" y="573167"/>
            <a:ext cx="1353121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606409" y="981313"/>
            <a:ext cx="5417582" cy="677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Talentica Software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549593" y="2148959"/>
            <a:ext cx="448687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2003</a:t>
            </a:r>
            <a:endParaRPr lang="en-US" sz="4050" dirty="0"/>
          </a:p>
        </p:txBody>
      </p:sp>
      <p:sp>
        <p:nvSpPr>
          <p:cNvPr id="5" name="Text 3"/>
          <p:cNvSpPr/>
          <p:nvPr/>
        </p:nvSpPr>
        <p:spPr>
          <a:xfrm>
            <a:off x="1811536" y="2863334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Founded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9593" y="3265646"/>
            <a:ext cx="448687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In Pune, India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9593" y="3987879"/>
            <a:ext cx="448687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600+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1811536" y="4702254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Team Size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9593" y="5104567"/>
            <a:ext cx="448687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AI Native Engineers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9593" y="5826800"/>
            <a:ext cx="4486870" cy="51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200+</a:t>
            </a:r>
            <a:endParaRPr lang="en-US" sz="4050" dirty="0"/>
          </a:p>
        </p:txBody>
      </p:sp>
      <p:sp>
        <p:nvSpPr>
          <p:cNvPr id="11" name="Text 9"/>
          <p:cNvSpPr/>
          <p:nvPr/>
        </p:nvSpPr>
        <p:spPr>
          <a:xfrm>
            <a:off x="1811536" y="6541175"/>
            <a:ext cx="1962864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Products Built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9593" y="6943487"/>
            <a:ext cx="4486870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Across US, Europe, India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27226" y="2035254"/>
            <a:ext cx="8661083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33" y="2463046"/>
            <a:ext cx="5731669" cy="4376499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9593" y="7547848"/>
            <a:ext cx="13531215" cy="251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endParaRPr lang="en-US" sz="12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51FBA1-3FDF-C700-FF68-D4A25CED6242}"/>
              </a:ext>
            </a:extLst>
          </p:cNvPr>
          <p:cNvSpPr/>
          <p:nvPr/>
        </p:nvSpPr>
        <p:spPr>
          <a:xfrm>
            <a:off x="12901808" y="7799070"/>
            <a:ext cx="1728592" cy="317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E7C6D-4C59-4A48-C5EC-8DEBAA788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>
            <a:extLst>
              <a:ext uri="{FF2B5EF4-FFF2-40B4-BE49-F238E27FC236}">
                <a16:creationId xmlns:a16="http://schemas.microsoft.com/office/drawing/2014/main" id="{1BA6A410-0D05-B179-CB9B-83065090BD2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09660" y="0"/>
            <a:ext cx="5920741" cy="7843101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2878F518-394E-54A4-E306-19FCA73A529E}"/>
              </a:ext>
            </a:extLst>
          </p:cNvPr>
          <p:cNvSpPr/>
          <p:nvPr/>
        </p:nvSpPr>
        <p:spPr>
          <a:xfrm>
            <a:off x="3200401" y="739141"/>
            <a:ext cx="4709160" cy="14020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BE99FF-668F-F264-0D68-0032CAF78E9D}"/>
              </a:ext>
            </a:extLst>
          </p:cNvPr>
          <p:cNvSpPr/>
          <p:nvPr/>
        </p:nvSpPr>
        <p:spPr>
          <a:xfrm>
            <a:off x="3200399" y="739140"/>
            <a:ext cx="4709160" cy="1783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Our</a:t>
            </a:r>
            <a:b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Understanding</a:t>
            </a:r>
            <a:endParaRPr lang="en-US" sz="5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19E689-B4C8-3299-2206-2C1BBA812762}"/>
              </a:ext>
            </a:extLst>
          </p:cNvPr>
          <p:cNvSpPr/>
          <p:nvPr/>
        </p:nvSpPr>
        <p:spPr>
          <a:xfrm>
            <a:off x="3200398" y="6666449"/>
            <a:ext cx="4709162" cy="82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solidFill>
                  <a:srgbClr val="232327">
                    <a:alpha val="99000"/>
                  </a:srgbClr>
                </a:solidFill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SafeIn5 Platform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solidFill>
                  <a:srgbClr val="232327">
                    <a:alpha val="99000"/>
                  </a:srgbClr>
                </a:solidFill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Big Picture, Personas &amp; User flows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517E55-B0A5-482E-F82D-ECACB6ADD846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579FABE3-2901-6D71-1024-A57938CF654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9662" y="1253439"/>
            <a:ext cx="5905499" cy="5905499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1E6CA736-A056-635A-4515-9E6F8248DA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B3E3130F-3BBC-51B0-B58D-4BE15F2B607C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18BC224-1D89-FE90-F20E-09E468202E70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B77A6956-4DAB-44E4-E752-9448BC27E9A0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3050B597-1C7C-F337-287B-7781C59B76E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9241490C-BF7B-E4C1-75CF-95E298E7B518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1" name="Shape 12">
            <a:extLst>
              <a:ext uri="{FF2B5EF4-FFF2-40B4-BE49-F238E27FC236}">
                <a16:creationId xmlns:a16="http://schemas.microsoft.com/office/drawing/2014/main" id="{80268595-2C3D-1316-248A-91CA9F62518E}"/>
              </a:ext>
            </a:extLst>
          </p:cNvPr>
          <p:cNvSpPr/>
          <p:nvPr/>
        </p:nvSpPr>
        <p:spPr>
          <a:xfrm>
            <a:off x="1" y="777081"/>
            <a:ext cx="1927861" cy="7621"/>
          </a:xfrm>
          <a:prstGeom prst="rect">
            <a:avLst/>
          </a:prstGeom>
          <a:solidFill>
            <a:srgbClr val="232327"/>
          </a:solidFill>
          <a:ln/>
        </p:spPr>
        <p:txBody>
          <a:bodyPr/>
          <a:lstStyle/>
          <a:p>
            <a:endParaRPr lang="en-US" sz="2880"/>
          </a:p>
        </p:txBody>
      </p:sp>
      <p:sp>
        <p:nvSpPr>
          <p:cNvPr id="7" name="Text 14">
            <a:extLst>
              <a:ext uri="{FF2B5EF4-FFF2-40B4-BE49-F238E27FC236}">
                <a16:creationId xmlns:a16="http://schemas.microsoft.com/office/drawing/2014/main" id="{2A89FA2F-D351-6B9E-509D-35A2381B397C}"/>
              </a:ext>
            </a:extLst>
          </p:cNvPr>
          <p:cNvSpPr/>
          <p:nvPr/>
        </p:nvSpPr>
        <p:spPr>
          <a:xfrm>
            <a:off x="539580" y="874492"/>
            <a:ext cx="131826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12"/>
              </a:lnSpc>
            </a:pPr>
            <a:r>
              <a:rPr lang="en-US" sz="912" dirty="0">
                <a:solidFill>
                  <a:srgbClr val="232327">
                    <a:alpha val="99000"/>
                  </a:srgbClr>
                </a:solidFill>
                <a:latin typeface="Andale Mono" panose="020B0509000000000004" pitchFamily="49" charset="0"/>
                <a:ea typeface="IBM Plex Mono" pitchFamily="34" charset="-122"/>
                <a:cs typeface="IBM Plex Mono" pitchFamily="34" charset="-120"/>
              </a:rPr>
              <a:t>SAFEIN5 - PROPOSAL</a:t>
            </a:r>
            <a:endParaRPr lang="en-US" sz="912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32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79234-BC92-A8CB-2B51-2536A18F2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A038600-FB72-FC4F-8904-291E774FD31F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7D1747-7693-B91F-D659-484428FFFE29}"/>
              </a:ext>
            </a:extLst>
          </p:cNvPr>
          <p:cNvSpPr/>
          <p:nvPr/>
        </p:nvSpPr>
        <p:spPr>
          <a:xfrm>
            <a:off x="362835" y="1251955"/>
            <a:ext cx="2563246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Our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Understanding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D724D43-A413-F9B0-D0E4-06BC518E2DB3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Big Picture</a:t>
            </a:r>
          </a:p>
          <a:p>
            <a:r>
              <a:rPr lang="en-IN" sz="2240" dirty="0"/>
              <a:t>SafeIn5 helps frontline workers / technicians make safer decisions by turning everyday observations into shared safety awareness before incidents occur.</a:t>
            </a:r>
            <a: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product is built around  the PULSE and SIGNAL behavioural systems</a:t>
            </a:r>
            <a:b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224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EBDBF7-27E1-7262-7363-ABC1709201C6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F1B6B4B-2E2F-8CCB-0855-3B66A80979CE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188DE061-669D-56B4-2021-C9B7835DF627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5415FCD9-4664-C1B5-F509-175FA1D38A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F933F9C-64D7-4CFC-2B56-C350A927C2BC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61692690-1BC4-7044-BD6E-E20257047710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B111A8B0-2838-1AAF-02C5-20EBCF88923D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9C128063-9193-8089-2457-36C086F1F7AE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F5A33D2D-6F4F-7F3A-3BFA-005EFBC29E5D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2647A190-17BE-924C-B22E-47F000FE5B3A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93094B7D-6FCC-5D25-35FF-4BBF1EAE854E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</a:rPr>
                <a:t>SFAEIN5 -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Shape 15">
            <a:extLst>
              <a:ext uri="{FF2B5EF4-FFF2-40B4-BE49-F238E27FC236}">
                <a16:creationId xmlns:a16="http://schemas.microsoft.com/office/drawing/2014/main" id="{BFDD1ECE-E6C4-62AE-38FA-9EEE8226CDF0}"/>
              </a:ext>
            </a:extLst>
          </p:cNvPr>
          <p:cNvSpPr/>
          <p:nvPr/>
        </p:nvSpPr>
        <p:spPr>
          <a:xfrm>
            <a:off x="3196693" y="5208571"/>
            <a:ext cx="9802613" cy="1544596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SIGNAL</a:t>
            </a:r>
          </a:p>
          <a:p>
            <a:pPr marL="115200">
              <a:lnSpc>
                <a:spcPct val="125000"/>
              </a:lnSpc>
            </a:pPr>
            <a:r>
              <a:rPr lang="en-IN" sz="1600" b="1" dirty="0">
                <a:latin typeface="Calibri" panose="020F0502020204030204" pitchFamily="34" charset="0"/>
                <a:cs typeface="Calibri" panose="020F0502020204030204" pitchFamily="34" charset="0"/>
              </a:rPr>
              <a:t>Sense, Identify, Gather, Navigate, Alert, Loop</a:t>
            </a:r>
            <a:r>
              <a:rPr lang="en-IN" sz="1600" dirty="0">
                <a:latin typeface="Calibri" panose="020F0502020204030204" pitchFamily="34" charset="0"/>
                <a:cs typeface="Calibri" panose="020F0502020204030204" pitchFamily="34" charset="0"/>
              </a:rPr>
              <a:t> — a shared safety intelligence loop that captures frontline observations, surfaces patterns and risks, and feeds learning back into future safety decisions.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Shape 15">
            <a:extLst>
              <a:ext uri="{FF2B5EF4-FFF2-40B4-BE49-F238E27FC236}">
                <a16:creationId xmlns:a16="http://schemas.microsoft.com/office/drawing/2014/main" id="{BACB6453-8FBE-5FE1-AFE8-5AA73E0D576E}"/>
              </a:ext>
            </a:extLst>
          </p:cNvPr>
          <p:cNvSpPr/>
          <p:nvPr/>
        </p:nvSpPr>
        <p:spPr>
          <a:xfrm>
            <a:off x="3196694" y="3361832"/>
            <a:ext cx="9802614" cy="1544595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PULSE</a:t>
            </a:r>
          </a:p>
          <a:p>
            <a:pPr marL="115200">
              <a:lnSpc>
                <a:spcPct val="125000"/>
              </a:lnSpc>
            </a:pPr>
            <a:r>
              <a:rPr lang="en-IN" sz="1600" b="1" dirty="0">
                <a:latin typeface="Calibri" panose="020F0502020204030204" pitchFamily="34" charset="0"/>
                <a:cs typeface="Calibri" panose="020F0502020204030204" pitchFamily="34" charset="0"/>
              </a:rPr>
              <a:t>Pause, Uncover, Learn, Shift, Echo</a:t>
            </a:r>
            <a:r>
              <a:rPr lang="en-IN" sz="1600" dirty="0">
                <a:latin typeface="Calibri" panose="020F0502020204030204" pitchFamily="34" charset="0"/>
                <a:cs typeface="Calibri" panose="020F0502020204030204" pitchFamily="34" charset="0"/>
              </a:rPr>
              <a:t> — a frontline behavioural loop that helps workers identify risks early, make safer decisions, and share learnings before work proceeds.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516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MVP PURPOSE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Framework validation</a:t>
            </a:r>
          </a:p>
          <a:p>
            <a: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Validate that frontline workers can quickly capture and share safety observations in real operational environments &amp; Reinforce ”safer by sharing”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212943" y="7755281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2" name="Shape 15">
            <a:extLst>
              <a:ext uri="{FF2B5EF4-FFF2-40B4-BE49-F238E27FC236}">
                <a16:creationId xmlns:a16="http://schemas.microsoft.com/office/drawing/2014/main" id="{7DFE4F41-6174-5DD7-379E-A03BAC219323}"/>
              </a:ext>
            </a:extLst>
          </p:cNvPr>
          <p:cNvSpPr/>
          <p:nvPr/>
        </p:nvSpPr>
        <p:spPr>
          <a:xfrm>
            <a:off x="3196694" y="2706917"/>
            <a:ext cx="3185386" cy="4702902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b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PULSE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Capture first, structure later interactions at the point of work in less than 60 Seconds</a:t>
            </a:r>
          </a:p>
          <a:p>
            <a:pPr marL="115200">
              <a:lnSpc>
                <a:spcPct val="125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QR Driven contextual Safety Workflows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Low friction frontline participation with repeat usage</a:t>
            </a:r>
            <a:endParaRPr lang="en-US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720458CA-6B25-3947-3731-B3BB4CC6E399}"/>
              </a:ext>
            </a:extLst>
          </p:cNvPr>
          <p:cNvSpPr/>
          <p:nvPr/>
        </p:nvSpPr>
        <p:spPr>
          <a:xfrm>
            <a:off x="6675346" y="2706917"/>
            <a:ext cx="3528527" cy="4702902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b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SIGNAL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Receive signals from the front line through community sharing, QR journeys.</a:t>
            </a:r>
          </a:p>
          <a:p>
            <a:pPr marL="115200">
              <a:lnSpc>
                <a:spcPct val="125000"/>
              </a:lnSpc>
            </a:pP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Identify Risk pattern  and Anomalies </a:t>
            </a:r>
          </a:p>
          <a:p>
            <a:pPr marL="115200">
              <a:lnSpc>
                <a:spcPct val="125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Feed intelligence to the frontline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Route insights to the right people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4C35B83E-5713-B3BA-72C2-34F0530B9935}"/>
              </a:ext>
            </a:extLst>
          </p:cNvPr>
          <p:cNvSpPr/>
          <p:nvPr/>
        </p:nvSpPr>
        <p:spPr>
          <a:xfrm>
            <a:off x="10456157" y="2706917"/>
            <a:ext cx="3185386" cy="4702902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b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Mobile First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Usability in Industrial environments</a:t>
            </a:r>
          </a:p>
          <a:p>
            <a:pPr marL="115200">
              <a:lnSpc>
                <a:spcPct val="125000"/>
              </a:lnSpc>
            </a:pP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Workers should be able to operate with Gloves and goggles – minimum typing, easy to use.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DCBB301-5E3D-D464-2A32-861406389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89960" y="2948923"/>
            <a:ext cx="731520" cy="73152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4D4643-38EA-B9B6-36DB-2708328C20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111877" y="2948924"/>
            <a:ext cx="731520" cy="65722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67D27DF-57B8-A275-9979-C1F010EF9C8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702186" y="2948923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37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USER PERSONAS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Primary users of the Mobile application</a:t>
            </a:r>
          </a:p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The following 3 personas benefit the most from the application. </a:t>
            </a:r>
            <a:endParaRPr lang="en-IN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33E4C706-4394-C538-6F38-FDD85BFAC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721" y="2340003"/>
            <a:ext cx="3048119" cy="1883807"/>
          </a:xfrm>
          <a:prstGeom prst="rect">
            <a:avLst/>
          </a:prstGeom>
        </p:spPr>
      </p:pic>
      <p:sp>
        <p:nvSpPr>
          <p:cNvPr id="18" name="Text 3">
            <a:extLst>
              <a:ext uri="{FF2B5EF4-FFF2-40B4-BE49-F238E27FC236}">
                <a16:creationId xmlns:a16="http://schemas.microsoft.com/office/drawing/2014/main" id="{F1111872-9BEA-5694-CA41-36A4424D891D}"/>
              </a:ext>
            </a:extLst>
          </p:cNvPr>
          <p:cNvSpPr/>
          <p:nvPr/>
        </p:nvSpPr>
        <p:spPr>
          <a:xfrm>
            <a:off x="3309721" y="4450624"/>
            <a:ext cx="304811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Frontline Worker / Technician</a:t>
            </a:r>
            <a:endParaRPr lang="en-US" sz="22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ECCEC58E-AA70-2BE1-C340-6D8D318AAE14}"/>
              </a:ext>
            </a:extLst>
          </p:cNvPr>
          <p:cNvSpPr/>
          <p:nvPr/>
        </p:nvSpPr>
        <p:spPr>
          <a:xfrm>
            <a:off x="3309721" y="5649703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Key contributor to PULSE – Identify and share risks without disrupting the work</a:t>
            </a:r>
            <a:endParaRPr lang="en-US" sz="175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A0783D1F-D6C4-0F47-1F3A-380F9F83B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106" y="2340003"/>
            <a:ext cx="3048119" cy="1883807"/>
          </a:xfrm>
          <a:prstGeom prst="rect">
            <a:avLst/>
          </a:prstGeom>
        </p:spPr>
      </p:pic>
      <p:sp>
        <p:nvSpPr>
          <p:cNvPr id="21" name="Text 5">
            <a:extLst>
              <a:ext uri="{FF2B5EF4-FFF2-40B4-BE49-F238E27FC236}">
                <a16:creationId xmlns:a16="http://schemas.microsoft.com/office/drawing/2014/main" id="{35698169-96D6-1F3A-6A3F-9C051C8F13A7}"/>
              </a:ext>
            </a:extLst>
          </p:cNvPr>
          <p:cNvSpPr/>
          <p:nvPr/>
        </p:nvSpPr>
        <p:spPr>
          <a:xfrm>
            <a:off x="6876106" y="4450624"/>
            <a:ext cx="304811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Supervisor / Site lead</a:t>
            </a:r>
            <a:endParaRPr lang="en-US" sz="22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5CBF298C-4B5F-3E08-5F9C-330DF26A89CD}"/>
              </a:ext>
            </a:extLst>
          </p:cNvPr>
          <p:cNvSpPr/>
          <p:nvPr/>
        </p:nvSpPr>
        <p:spPr>
          <a:xfrm>
            <a:off x="6876106" y="5649703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Improve situational awareness and increase proactive reporting.</a:t>
            </a:r>
            <a:endParaRPr lang="en-US" sz="175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F3D4515C-BAB9-4CB7-C09C-22A101555C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3068" y="2340003"/>
            <a:ext cx="3048119" cy="1883807"/>
          </a:xfrm>
          <a:prstGeom prst="rect">
            <a:avLst/>
          </a:prstGeom>
        </p:spPr>
      </p:pic>
      <p:sp>
        <p:nvSpPr>
          <p:cNvPr id="24" name="Text 7">
            <a:extLst>
              <a:ext uri="{FF2B5EF4-FFF2-40B4-BE49-F238E27FC236}">
                <a16:creationId xmlns:a16="http://schemas.microsoft.com/office/drawing/2014/main" id="{9393F498-0CB4-88E8-5E98-26BE958B114B}"/>
              </a:ext>
            </a:extLst>
          </p:cNvPr>
          <p:cNvSpPr/>
          <p:nvPr/>
        </p:nvSpPr>
        <p:spPr>
          <a:xfrm>
            <a:off x="10393068" y="4450624"/>
            <a:ext cx="3048119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Montserrat Semi Bold" pitchFamily="34" charset="0"/>
              </a:rPr>
              <a:t>SafeIn5 Platform</a:t>
            </a:r>
            <a:br>
              <a:rPr lang="en-US" sz="2200" dirty="0">
                <a:solidFill>
                  <a:srgbClr val="464646"/>
                </a:solidFill>
                <a:latin typeface="Montserrat Semi Bold" pitchFamily="34" charset="0"/>
              </a:rPr>
            </a:br>
            <a:r>
              <a:rPr lang="en-US" sz="2200" dirty="0">
                <a:solidFill>
                  <a:srgbClr val="464646"/>
                </a:solidFill>
                <a:latin typeface="Montserrat Semi Bold" pitchFamily="34" charset="0"/>
              </a:rPr>
              <a:t>Administrator</a:t>
            </a:r>
            <a:endParaRPr lang="en-US" sz="22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4B58BC64-9E0E-E530-4A0A-A1B349DAF581}"/>
              </a:ext>
            </a:extLst>
          </p:cNvPr>
          <p:cNvSpPr/>
          <p:nvPr/>
        </p:nvSpPr>
        <p:spPr>
          <a:xfrm>
            <a:off x="10393068" y="5649703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Responsible for setting up the tenants, users, configurations and workflows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61398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USER SCENARIO</a:t>
            </a:r>
          </a:p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(Corporate)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Rigging and Fixtures User Scenario</a:t>
            </a:r>
          </a:p>
          <a:p>
            <a:endParaRPr lang="en-US" sz="2400" b="1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b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Dave and his crew are preparing a heavy fixture lift using a custom spreader beam and chain assembly</a:t>
            </a:r>
            <a:r>
              <a:rPr lang="en-IN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team is under schedule pressure because the crane window is limited.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At the lifting area entrance, there is a QR code attached to the lifting zone barrier.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</a:b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The QR is linked to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Lift-specific PULSE (Take 5)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Rescue / emergency procedure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Learn 5 content for suspended loads and pinch points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4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2" name="Shape 15">
            <a:extLst>
              <a:ext uri="{FF2B5EF4-FFF2-40B4-BE49-F238E27FC236}">
                <a16:creationId xmlns:a16="http://schemas.microsoft.com/office/drawing/2014/main" id="{7DFE4F41-6174-5DD7-379E-A03BAC219323}"/>
              </a:ext>
            </a:extLst>
          </p:cNvPr>
          <p:cNvSpPr/>
          <p:nvPr/>
        </p:nvSpPr>
        <p:spPr>
          <a:xfrm>
            <a:off x="3196694" y="4604350"/>
            <a:ext cx="3185386" cy="2568104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USER PERSONA</a:t>
            </a:r>
          </a:p>
          <a:p>
            <a:pPr marL="115200">
              <a:lnSpc>
                <a:spcPct val="125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Name – Dave Smith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Role – Senior Rigger and Fixture Installation Technician</a:t>
            </a: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720458CA-6B25-3947-3731-B3BB4CC6E399}"/>
              </a:ext>
            </a:extLst>
          </p:cNvPr>
          <p:cNvSpPr/>
          <p:nvPr/>
        </p:nvSpPr>
        <p:spPr>
          <a:xfrm>
            <a:off x="6826425" y="4604350"/>
            <a:ext cx="3185386" cy="2568104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ENVIRONMENT</a:t>
            </a:r>
          </a:p>
          <a:p>
            <a:pPr marL="115200">
              <a:lnSpc>
                <a:spcPct val="125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Heavy Fabrication Yard 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Has intermittent </a:t>
            </a:r>
            <a:r>
              <a:rPr lang="en-US" sz="1600" dirty="0" err="1">
                <a:latin typeface="Calibri" panose="020F0502020204030204" pitchFamily="34" charset="0"/>
                <a:cs typeface="Calibri" panose="020F0502020204030204" pitchFamily="34" charset="0"/>
              </a:rPr>
              <a:t>WiFi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or Cellular Connectivity</a:t>
            </a:r>
          </a:p>
          <a:p>
            <a:pPr marL="115200">
              <a:spcAft>
                <a:spcPts val="1920"/>
              </a:spcAft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4C35B83E-5713-B3BA-72C2-34F0530B9935}"/>
              </a:ext>
            </a:extLst>
          </p:cNvPr>
          <p:cNvSpPr/>
          <p:nvPr/>
        </p:nvSpPr>
        <p:spPr>
          <a:xfrm>
            <a:off x="10456157" y="4604350"/>
            <a:ext cx="3185386" cy="2568104"/>
          </a:xfrm>
          <a:prstGeom prst="rect">
            <a:avLst/>
          </a:prstGeom>
          <a:solidFill>
            <a:srgbClr val="E7F0F4"/>
          </a:solidFill>
          <a:ln>
            <a:noFill/>
          </a:ln>
        </p:spPr>
        <p:txBody>
          <a:bodyPr/>
          <a:lstStyle/>
          <a:p>
            <a:pPr marL="115200">
              <a:lnSpc>
                <a:spcPct val="125000"/>
              </a:lnSpc>
            </a:pPr>
            <a:endParaRPr lang="en-US" sz="208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2080" b="1" dirty="0">
                <a:latin typeface="Segoe UI" panose="020B0502040204020203" pitchFamily="34" charset="0"/>
                <a:cs typeface="Segoe UI" panose="020B0502040204020203" pitchFamily="34" charset="0"/>
              </a:rPr>
              <a:t>DEVICE</a:t>
            </a: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Personal Mobile Phone or Company issued rugged device</a:t>
            </a:r>
          </a:p>
          <a:p>
            <a:pPr marL="115200">
              <a:lnSpc>
                <a:spcPct val="125000"/>
              </a:lnSpc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15200">
              <a:lnSpc>
                <a:spcPct val="125000"/>
              </a:lnSpc>
            </a:pP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Workers with Gloves and Goggles.</a:t>
            </a:r>
          </a:p>
        </p:txBody>
      </p:sp>
    </p:spTree>
    <p:extLst>
      <p:ext uri="{BB962C8B-B14F-4D97-AF65-F5344CB8AC3E}">
        <p14:creationId xmlns:p14="http://schemas.microsoft.com/office/powerpoint/2010/main" val="18830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28">
            <a:extLst>
              <a:ext uri="{FF2B5EF4-FFF2-40B4-BE49-F238E27FC236}">
                <a16:creationId xmlns:a16="http://schemas.microsoft.com/office/drawing/2014/main" id="{BA4BAAFD-3458-D48B-1EF7-C3A5D12DFB6A}"/>
              </a:ext>
            </a:extLst>
          </p:cNvPr>
          <p:cNvSpPr/>
          <p:nvPr/>
        </p:nvSpPr>
        <p:spPr>
          <a:xfrm>
            <a:off x="7852352" y="6870362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82835DC5-371E-D2D6-E439-9E9766B195BC}"/>
              </a:ext>
            </a:extLst>
          </p:cNvPr>
          <p:cNvSpPr/>
          <p:nvPr/>
        </p:nvSpPr>
        <p:spPr>
          <a:xfrm>
            <a:off x="7866208" y="6063332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FE5770B4-817A-5C03-AB6F-DB4C00E186F4}"/>
              </a:ext>
            </a:extLst>
          </p:cNvPr>
          <p:cNvSpPr/>
          <p:nvPr/>
        </p:nvSpPr>
        <p:spPr>
          <a:xfrm>
            <a:off x="7933835" y="615949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6</a:t>
            </a:r>
            <a:endParaRPr lang="en-US" sz="2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STEP BY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STEP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USER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JOURNEY</a:t>
            </a:r>
          </a:p>
          <a:p>
            <a:pPr>
              <a:lnSpc>
                <a:spcPts val="2736"/>
              </a:lnSpc>
            </a:pP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3E8B8BC4-731B-5B4C-4F3A-504E3AB8F244}"/>
              </a:ext>
            </a:extLst>
          </p:cNvPr>
          <p:cNvSpPr/>
          <p:nvPr/>
        </p:nvSpPr>
        <p:spPr>
          <a:xfrm>
            <a:off x="8057541" y="1419701"/>
            <a:ext cx="22860" cy="6313765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91BBEED-215D-CEDA-3726-9038B3F788B5}"/>
              </a:ext>
            </a:extLst>
          </p:cNvPr>
          <p:cNvSpPr/>
          <p:nvPr/>
        </p:nvSpPr>
        <p:spPr>
          <a:xfrm>
            <a:off x="7348405" y="1611035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B1C5E85-2A5D-2124-FC61-509CAE6DC15E}"/>
              </a:ext>
            </a:extLst>
          </p:cNvPr>
          <p:cNvSpPr/>
          <p:nvPr/>
        </p:nvSpPr>
        <p:spPr>
          <a:xfrm>
            <a:off x="7866208" y="1419701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3CC9F9-B245-9A5F-E877-05EDD179F391}"/>
              </a:ext>
            </a:extLst>
          </p:cNvPr>
          <p:cNvSpPr/>
          <p:nvPr/>
        </p:nvSpPr>
        <p:spPr>
          <a:xfrm>
            <a:off x="7933835" y="1453515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64D9F17-AA4A-7F47-9318-E0E0DA9E6EC6}"/>
              </a:ext>
            </a:extLst>
          </p:cNvPr>
          <p:cNvSpPr/>
          <p:nvPr/>
        </p:nvSpPr>
        <p:spPr>
          <a:xfrm>
            <a:off x="4479594" y="1481614"/>
            <a:ext cx="268819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algn="r">
              <a:lnSpc>
                <a:spcPts val="2200"/>
              </a:lnSpc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QR Scan before starting work</a:t>
            </a:r>
            <a:endParaRPr lang="en-US" sz="17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D530FD6-4496-3EDC-3690-B4BB7ECB37FA}"/>
              </a:ext>
            </a:extLst>
          </p:cNvPr>
          <p:cNvSpPr/>
          <p:nvPr/>
        </p:nvSpPr>
        <p:spPr>
          <a:xfrm>
            <a:off x="2651762" y="1871305"/>
            <a:ext cx="451602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The app opens the SafeIn5 PULSE Screen based on the Site location, Task type, Asset etc. </a:t>
            </a:r>
            <a:endParaRPr lang="en-US" sz="14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D8F5B77-3EB5-E1D2-B072-E60352AB5FED}"/>
              </a:ext>
            </a:extLst>
          </p:cNvPr>
          <p:cNvSpPr/>
          <p:nvPr/>
        </p:nvSpPr>
        <p:spPr>
          <a:xfrm>
            <a:off x="8271734" y="2419585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D2AED2D-E419-6E9C-BA27-8BDEF62955DA}"/>
              </a:ext>
            </a:extLst>
          </p:cNvPr>
          <p:cNvSpPr/>
          <p:nvPr/>
        </p:nvSpPr>
        <p:spPr>
          <a:xfrm>
            <a:off x="7866208" y="2216822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5AC2EA7D-093E-C34A-677A-B03653449BD6}"/>
              </a:ext>
            </a:extLst>
          </p:cNvPr>
          <p:cNvSpPr/>
          <p:nvPr/>
        </p:nvSpPr>
        <p:spPr>
          <a:xfrm>
            <a:off x="7933835" y="2305416"/>
            <a:ext cx="270272" cy="796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44D1CB0-3149-C039-9C52-569E782E9EEF}"/>
              </a:ext>
            </a:extLst>
          </p:cNvPr>
          <p:cNvSpPr/>
          <p:nvPr/>
        </p:nvSpPr>
        <p:spPr>
          <a:xfrm>
            <a:off x="8970155" y="1795828"/>
            <a:ext cx="2706410" cy="80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PULSE (Take 5)</a:t>
            </a:r>
            <a:endParaRPr lang="en-US" sz="17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B6177CFE-0BE7-9A8B-E47D-14CD4C99D689}"/>
              </a:ext>
            </a:extLst>
          </p:cNvPr>
          <p:cNvSpPr/>
          <p:nvPr/>
        </p:nvSpPr>
        <p:spPr>
          <a:xfrm>
            <a:off x="8970155" y="2167729"/>
            <a:ext cx="5279247" cy="164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Guides the user through the process with instructions – Pause – look around, what looks different, Shackle orientation is unusual. Tag line placement can create a problem</a:t>
            </a:r>
            <a:b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Learn – Learn 5 Card appears – Incorrect shackle loading can create side loading failures. </a:t>
            </a:r>
            <a:b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Shift – Repositions the tag line</a:t>
            </a:r>
            <a:b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Echo - Share this with others.</a:t>
            </a:r>
            <a:b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endParaRPr lang="en-US" sz="14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959D31-DFBF-F049-B78E-AE291A6FCAE6}"/>
              </a:ext>
            </a:extLst>
          </p:cNvPr>
          <p:cNvSpPr/>
          <p:nvPr/>
        </p:nvSpPr>
        <p:spPr>
          <a:xfrm>
            <a:off x="7348405" y="3562155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035654A-90F7-8475-3220-B30CCDFA3265}"/>
              </a:ext>
            </a:extLst>
          </p:cNvPr>
          <p:cNvSpPr/>
          <p:nvPr/>
        </p:nvSpPr>
        <p:spPr>
          <a:xfrm>
            <a:off x="7866208" y="3381212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9DDA69C-C420-30FA-6D5C-4FE0D879BA59}"/>
              </a:ext>
            </a:extLst>
          </p:cNvPr>
          <p:cNvSpPr/>
          <p:nvPr/>
        </p:nvSpPr>
        <p:spPr>
          <a:xfrm>
            <a:off x="7933835" y="346698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1C6802D-284B-7044-D0E9-1C2F9099F25A}"/>
              </a:ext>
            </a:extLst>
          </p:cNvPr>
          <p:cNvSpPr/>
          <p:nvPr/>
        </p:nvSpPr>
        <p:spPr>
          <a:xfrm>
            <a:off x="4914648" y="3432734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Rescue Plan Review</a:t>
            </a:r>
            <a:endParaRPr lang="en-US" sz="175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FD583BF3-5A81-B28F-A8B9-A63B08A330CC}"/>
              </a:ext>
            </a:extLst>
          </p:cNvPr>
          <p:cNvSpPr/>
          <p:nvPr/>
        </p:nvSpPr>
        <p:spPr>
          <a:xfrm>
            <a:off x="1384564" y="3822425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Rescue plan provides  task –specific emergency response</a:t>
            </a:r>
          </a:p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procedures, roles, contacts and required equipment</a:t>
            </a:r>
            <a:endParaRPr lang="en-US" sz="14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DFDC36CB-FE7B-8686-1075-42D34A6B64CF}"/>
              </a:ext>
            </a:extLst>
          </p:cNvPr>
          <p:cNvSpPr/>
          <p:nvPr/>
        </p:nvSpPr>
        <p:spPr>
          <a:xfrm>
            <a:off x="8248874" y="455664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BE203E1F-1614-55C3-AA97-1F598824B69E}"/>
              </a:ext>
            </a:extLst>
          </p:cNvPr>
          <p:cNvSpPr/>
          <p:nvPr/>
        </p:nvSpPr>
        <p:spPr>
          <a:xfrm>
            <a:off x="7866208" y="436530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47AFAFB-6E84-619F-3E40-411A9E37AEDD}"/>
              </a:ext>
            </a:extLst>
          </p:cNvPr>
          <p:cNvSpPr/>
          <p:nvPr/>
        </p:nvSpPr>
        <p:spPr>
          <a:xfrm>
            <a:off x="7933835" y="439912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531BD56B-A251-C640-5B9F-D5DC249BD956}"/>
              </a:ext>
            </a:extLst>
          </p:cNvPr>
          <p:cNvSpPr/>
          <p:nvPr/>
        </p:nvSpPr>
        <p:spPr>
          <a:xfrm>
            <a:off x="8970155" y="4427220"/>
            <a:ext cx="230540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Signal Capture</a:t>
            </a:r>
            <a:endParaRPr lang="en-US" sz="175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B2229E1B-7060-BDB0-CACC-8E463F1C6269}"/>
              </a:ext>
            </a:extLst>
          </p:cNvPr>
          <p:cNvSpPr/>
          <p:nvPr/>
        </p:nvSpPr>
        <p:spPr>
          <a:xfrm>
            <a:off x="8970155" y="4816912"/>
            <a:ext cx="477488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Click the share button to take a picture, provide description -  Potential side loading problem on shackle </a:t>
            </a:r>
            <a:endParaRPr lang="en-US" sz="14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6B4664CD-E9B3-A8F1-7338-8905A21F2A3B}"/>
              </a:ext>
            </a:extLst>
          </p:cNvPr>
          <p:cNvSpPr/>
          <p:nvPr/>
        </p:nvSpPr>
        <p:spPr>
          <a:xfrm>
            <a:off x="7348405" y="5353698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D5C62586-CD67-8283-DC3E-6C8C794D94F4}"/>
              </a:ext>
            </a:extLst>
          </p:cNvPr>
          <p:cNvSpPr/>
          <p:nvPr/>
        </p:nvSpPr>
        <p:spPr>
          <a:xfrm>
            <a:off x="7866208" y="5151974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21A4157-9DF6-E0F7-2394-8279BAD19730}"/>
              </a:ext>
            </a:extLst>
          </p:cNvPr>
          <p:cNvSpPr/>
          <p:nvPr/>
        </p:nvSpPr>
        <p:spPr>
          <a:xfrm>
            <a:off x="7933835" y="522735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A12797F-A591-7873-92C4-04F4B8298A98}"/>
              </a:ext>
            </a:extLst>
          </p:cNvPr>
          <p:cNvSpPr/>
          <p:nvPr/>
        </p:nvSpPr>
        <p:spPr>
          <a:xfrm>
            <a:off x="4311120" y="5224277"/>
            <a:ext cx="285666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Classification and Confirmation</a:t>
            </a:r>
            <a:endParaRPr lang="en-US" sz="175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8DAAB163-39E4-E499-4DD7-C2944FB311F1}"/>
              </a:ext>
            </a:extLst>
          </p:cNvPr>
          <p:cNvSpPr/>
          <p:nvPr/>
        </p:nvSpPr>
        <p:spPr>
          <a:xfrm>
            <a:off x="1384564" y="5613969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Dave helps classify this as something to be aware of and confirms the signal.  Can share anonymously</a:t>
            </a:r>
            <a:endParaRPr lang="en-US" sz="14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F13A756A-D4CD-972A-E30D-65F2B493082D}"/>
              </a:ext>
            </a:extLst>
          </p:cNvPr>
          <p:cNvSpPr/>
          <p:nvPr/>
        </p:nvSpPr>
        <p:spPr>
          <a:xfrm>
            <a:off x="8248874" y="6254666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106A573-BF09-4439-4C8A-C4CA0AD5900A}"/>
              </a:ext>
            </a:extLst>
          </p:cNvPr>
          <p:cNvSpPr/>
          <p:nvPr/>
        </p:nvSpPr>
        <p:spPr>
          <a:xfrm>
            <a:off x="8970155" y="6125245"/>
            <a:ext cx="354818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Feed Visibility</a:t>
            </a:r>
            <a:endParaRPr lang="en-US" sz="1750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A4F017F8-E9B8-D291-199E-30426E717F6F}"/>
              </a:ext>
            </a:extLst>
          </p:cNvPr>
          <p:cNvSpPr/>
          <p:nvPr/>
        </p:nvSpPr>
        <p:spPr>
          <a:xfrm>
            <a:off x="8970155" y="6514936"/>
            <a:ext cx="5073507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The photo along with the context and the classification appears in the feed that is shared with all workers on the site. </a:t>
            </a:r>
            <a:endParaRPr lang="en-US" sz="1400" dirty="0"/>
          </a:p>
        </p:txBody>
      </p:sp>
      <p:sp>
        <p:nvSpPr>
          <p:cNvPr id="2" name="Shape 22">
            <a:extLst>
              <a:ext uri="{FF2B5EF4-FFF2-40B4-BE49-F238E27FC236}">
                <a16:creationId xmlns:a16="http://schemas.microsoft.com/office/drawing/2014/main" id="{FA23040D-5351-D131-F838-1639B97863C6}"/>
              </a:ext>
            </a:extLst>
          </p:cNvPr>
          <p:cNvSpPr/>
          <p:nvPr/>
        </p:nvSpPr>
        <p:spPr>
          <a:xfrm>
            <a:off x="7303376" y="7064733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24">
            <a:extLst>
              <a:ext uri="{FF2B5EF4-FFF2-40B4-BE49-F238E27FC236}">
                <a16:creationId xmlns:a16="http://schemas.microsoft.com/office/drawing/2014/main" id="{BD78A674-7493-8F91-8456-045DC25A7C48}"/>
              </a:ext>
            </a:extLst>
          </p:cNvPr>
          <p:cNvSpPr/>
          <p:nvPr/>
        </p:nvSpPr>
        <p:spPr>
          <a:xfrm>
            <a:off x="7930370" y="6945285"/>
            <a:ext cx="270272" cy="372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</a:rPr>
              <a:t>7</a:t>
            </a:r>
            <a:endParaRPr lang="en-US" sz="2100" dirty="0"/>
          </a:p>
        </p:txBody>
      </p:sp>
      <p:sp>
        <p:nvSpPr>
          <p:cNvPr id="6" name="Text 25">
            <a:extLst>
              <a:ext uri="{FF2B5EF4-FFF2-40B4-BE49-F238E27FC236}">
                <a16:creationId xmlns:a16="http://schemas.microsoft.com/office/drawing/2014/main" id="{4AD224BC-5EAB-8673-654A-C0D952ADEB11}"/>
              </a:ext>
            </a:extLst>
          </p:cNvPr>
          <p:cNvSpPr/>
          <p:nvPr/>
        </p:nvSpPr>
        <p:spPr>
          <a:xfrm>
            <a:off x="4266091" y="6935312"/>
            <a:ext cx="285666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Superior Awareness</a:t>
            </a:r>
            <a:endParaRPr lang="en-US" sz="17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5210D69-39BC-D716-3B48-BB17609624F3}"/>
              </a:ext>
            </a:extLst>
          </p:cNvPr>
          <p:cNvSpPr/>
          <p:nvPr/>
        </p:nvSpPr>
        <p:spPr>
          <a:xfrm>
            <a:off x="1339535" y="7325004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3 Similar Be </a:t>
            </a:r>
            <a:r>
              <a:rPr lang="en-US" sz="1400" dirty="0" err="1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Awares</a:t>
            </a: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 in 2 weeks related to lifting fixtures. Supervisor can then reinforce safety to the team the next morning.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1521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STEP BY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STEP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USER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JOURNEY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(</a:t>
            </a:r>
            <a:r>
              <a:rPr lang="en-US" sz="20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Community flow)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8" name="Shape 1">
            <a:extLst>
              <a:ext uri="{FF2B5EF4-FFF2-40B4-BE49-F238E27FC236}">
                <a16:creationId xmlns:a16="http://schemas.microsoft.com/office/drawing/2014/main" id="{3E8B8BC4-731B-5B4C-4F3A-504E3AB8F244}"/>
              </a:ext>
            </a:extLst>
          </p:cNvPr>
          <p:cNvSpPr/>
          <p:nvPr/>
        </p:nvSpPr>
        <p:spPr>
          <a:xfrm>
            <a:off x="8057541" y="1419701"/>
            <a:ext cx="22860" cy="6313765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F91BBEED-215D-CEDA-3726-9038B3F788B5}"/>
              </a:ext>
            </a:extLst>
          </p:cNvPr>
          <p:cNvSpPr/>
          <p:nvPr/>
        </p:nvSpPr>
        <p:spPr>
          <a:xfrm>
            <a:off x="7348405" y="1611035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7B1C5E85-2A5D-2124-FC61-509CAE6DC15E}"/>
              </a:ext>
            </a:extLst>
          </p:cNvPr>
          <p:cNvSpPr/>
          <p:nvPr/>
        </p:nvSpPr>
        <p:spPr>
          <a:xfrm>
            <a:off x="7866208" y="1419701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C3CC9F9-B245-9A5F-E877-05EDD179F391}"/>
              </a:ext>
            </a:extLst>
          </p:cNvPr>
          <p:cNvSpPr/>
          <p:nvPr/>
        </p:nvSpPr>
        <p:spPr>
          <a:xfrm>
            <a:off x="7933835" y="1453515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64D9F17-AA4A-7F47-9318-E0E0DA9E6EC6}"/>
              </a:ext>
            </a:extLst>
          </p:cNvPr>
          <p:cNvSpPr/>
          <p:nvPr/>
        </p:nvSpPr>
        <p:spPr>
          <a:xfrm>
            <a:off x="4479594" y="1481614"/>
            <a:ext cx="2688193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1" algn="r">
              <a:lnSpc>
                <a:spcPts val="2200"/>
              </a:lnSpc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Observe hazard</a:t>
            </a:r>
            <a:endParaRPr lang="en-US" sz="175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2D530FD6-4496-3EDC-3690-B4BB7ECB37FA}"/>
              </a:ext>
            </a:extLst>
          </p:cNvPr>
          <p:cNvSpPr/>
          <p:nvPr/>
        </p:nvSpPr>
        <p:spPr>
          <a:xfrm>
            <a:off x="2651762" y="1871305"/>
            <a:ext cx="4516025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Member notices an open manhole </a:t>
            </a:r>
            <a:endParaRPr lang="en-US" sz="14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D8F5B77-3EB5-E1D2-B072-E60352AB5FED}"/>
              </a:ext>
            </a:extLst>
          </p:cNvPr>
          <p:cNvSpPr/>
          <p:nvPr/>
        </p:nvSpPr>
        <p:spPr>
          <a:xfrm>
            <a:off x="8290438" y="2692360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D2AED2D-E419-6E9C-BA27-8BDEF62955DA}"/>
              </a:ext>
            </a:extLst>
          </p:cNvPr>
          <p:cNvSpPr/>
          <p:nvPr/>
        </p:nvSpPr>
        <p:spPr>
          <a:xfrm>
            <a:off x="7866208" y="2518161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5AC2EA7D-093E-C34A-677A-B03653449BD6}"/>
              </a:ext>
            </a:extLst>
          </p:cNvPr>
          <p:cNvSpPr/>
          <p:nvPr/>
        </p:nvSpPr>
        <p:spPr>
          <a:xfrm>
            <a:off x="7933835" y="2637928"/>
            <a:ext cx="270272" cy="796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2</a:t>
            </a:r>
            <a:endParaRPr lang="en-US" sz="2100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444D1CB0-3149-C039-9C52-569E782E9EEF}"/>
              </a:ext>
            </a:extLst>
          </p:cNvPr>
          <p:cNvSpPr/>
          <p:nvPr/>
        </p:nvSpPr>
        <p:spPr>
          <a:xfrm>
            <a:off x="8970155" y="1795828"/>
            <a:ext cx="2706410" cy="803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Quick Capture</a:t>
            </a:r>
            <a:endParaRPr lang="en-US" sz="175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B6177CFE-0BE7-9A8B-E47D-14CD4C99D689}"/>
              </a:ext>
            </a:extLst>
          </p:cNvPr>
          <p:cNvSpPr/>
          <p:nvPr/>
        </p:nvSpPr>
        <p:spPr>
          <a:xfrm>
            <a:off x="8970155" y="2167729"/>
            <a:ext cx="5279247" cy="1645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Takes a photograph and adds a text note or a voice note. Alternatively records a video. Geo Location is automatically attached if permissions allow</a:t>
            </a:r>
            <a:endParaRPr lang="en-US" sz="14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C1959D31-DFBF-F049-B78E-AE291A6FCAE6}"/>
              </a:ext>
            </a:extLst>
          </p:cNvPr>
          <p:cNvSpPr/>
          <p:nvPr/>
        </p:nvSpPr>
        <p:spPr>
          <a:xfrm>
            <a:off x="7348405" y="362450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0035654A-90F7-8475-3220-B30CCDFA3265}"/>
              </a:ext>
            </a:extLst>
          </p:cNvPr>
          <p:cNvSpPr/>
          <p:nvPr/>
        </p:nvSpPr>
        <p:spPr>
          <a:xfrm>
            <a:off x="7866208" y="3433167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59DDA69C-C420-30FA-6D5C-4FE0D879BA59}"/>
              </a:ext>
            </a:extLst>
          </p:cNvPr>
          <p:cNvSpPr/>
          <p:nvPr/>
        </p:nvSpPr>
        <p:spPr>
          <a:xfrm>
            <a:off x="7933835" y="346698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01C6802D-284B-7044-D0E9-1C2F9099F25A}"/>
              </a:ext>
            </a:extLst>
          </p:cNvPr>
          <p:cNvSpPr/>
          <p:nvPr/>
        </p:nvSpPr>
        <p:spPr>
          <a:xfrm>
            <a:off x="4914648" y="3495080"/>
            <a:ext cx="2253139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Community Feed</a:t>
            </a:r>
            <a:endParaRPr lang="en-US" sz="175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FD583BF3-5A81-B28F-A8B9-A63B08A330CC}"/>
              </a:ext>
            </a:extLst>
          </p:cNvPr>
          <p:cNvSpPr/>
          <p:nvPr/>
        </p:nvSpPr>
        <p:spPr>
          <a:xfrm>
            <a:off x="1384564" y="3884771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Classifies as something to be aware of and </a:t>
            </a:r>
          </a:p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needs immediate attention and shares to the </a:t>
            </a:r>
          </a:p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community feed</a:t>
            </a:r>
            <a:endParaRPr lang="en-US" sz="1400" dirty="0"/>
          </a:p>
        </p:txBody>
      </p:sp>
      <p:sp>
        <p:nvSpPr>
          <p:cNvPr id="28" name="Shape 17">
            <a:extLst>
              <a:ext uri="{FF2B5EF4-FFF2-40B4-BE49-F238E27FC236}">
                <a16:creationId xmlns:a16="http://schemas.microsoft.com/office/drawing/2014/main" id="{DFDC36CB-FE7B-8686-1075-42D34A6B64CF}"/>
              </a:ext>
            </a:extLst>
          </p:cNvPr>
          <p:cNvSpPr/>
          <p:nvPr/>
        </p:nvSpPr>
        <p:spPr>
          <a:xfrm>
            <a:off x="8248874" y="455664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BE203E1F-1614-55C3-AA97-1F598824B69E}"/>
              </a:ext>
            </a:extLst>
          </p:cNvPr>
          <p:cNvSpPr/>
          <p:nvPr/>
        </p:nvSpPr>
        <p:spPr>
          <a:xfrm>
            <a:off x="7866208" y="436530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47AFAFB-6E84-619F-3E40-411A9E37AEDD}"/>
              </a:ext>
            </a:extLst>
          </p:cNvPr>
          <p:cNvSpPr/>
          <p:nvPr/>
        </p:nvSpPr>
        <p:spPr>
          <a:xfrm>
            <a:off x="7933835" y="4399121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4</a:t>
            </a:r>
            <a:endParaRPr lang="en-US" sz="2100" dirty="0"/>
          </a:p>
        </p:txBody>
      </p:sp>
      <p:sp>
        <p:nvSpPr>
          <p:cNvPr id="34" name="Text 20">
            <a:extLst>
              <a:ext uri="{FF2B5EF4-FFF2-40B4-BE49-F238E27FC236}">
                <a16:creationId xmlns:a16="http://schemas.microsoft.com/office/drawing/2014/main" id="{531BD56B-A251-C640-5B9F-D5DC249BD956}"/>
              </a:ext>
            </a:extLst>
          </p:cNvPr>
          <p:cNvSpPr/>
          <p:nvPr/>
        </p:nvSpPr>
        <p:spPr>
          <a:xfrm>
            <a:off x="8970155" y="4427220"/>
            <a:ext cx="230540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</a:rPr>
              <a:t>Moderation and Verification</a:t>
            </a:r>
            <a:endParaRPr lang="en-US" sz="175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B2229E1B-7060-BDB0-CACC-8E463F1C6269}"/>
              </a:ext>
            </a:extLst>
          </p:cNvPr>
          <p:cNvSpPr/>
          <p:nvPr/>
        </p:nvSpPr>
        <p:spPr>
          <a:xfrm>
            <a:off x="8970155" y="4816912"/>
            <a:ext cx="477488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Shared content is reviewed and duplicates removed</a:t>
            </a:r>
            <a:endParaRPr lang="en-US" sz="14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6B4664CD-E9B3-A8F1-7338-8905A21F2A3B}"/>
              </a:ext>
            </a:extLst>
          </p:cNvPr>
          <p:cNvSpPr/>
          <p:nvPr/>
        </p:nvSpPr>
        <p:spPr>
          <a:xfrm>
            <a:off x="7348405" y="5488781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D5C62586-CD67-8283-DC3E-6C8C794D94F4}"/>
              </a:ext>
            </a:extLst>
          </p:cNvPr>
          <p:cNvSpPr/>
          <p:nvPr/>
        </p:nvSpPr>
        <p:spPr>
          <a:xfrm>
            <a:off x="7866208" y="529744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621A4157-9DF6-E0F7-2394-8279BAD19730}"/>
              </a:ext>
            </a:extLst>
          </p:cNvPr>
          <p:cNvSpPr/>
          <p:nvPr/>
        </p:nvSpPr>
        <p:spPr>
          <a:xfrm>
            <a:off x="7933835" y="533126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5</a:t>
            </a:r>
            <a:endParaRPr lang="en-US" sz="2100" dirty="0"/>
          </a:p>
        </p:txBody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EA12797F-A591-7873-92C4-04F4B8298A98}"/>
              </a:ext>
            </a:extLst>
          </p:cNvPr>
          <p:cNvSpPr/>
          <p:nvPr/>
        </p:nvSpPr>
        <p:spPr>
          <a:xfrm>
            <a:off x="4311120" y="5359360"/>
            <a:ext cx="285666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</a:rPr>
              <a:t>Authority / Owner notification</a:t>
            </a:r>
            <a:endParaRPr lang="en-US" sz="1750" dirty="0"/>
          </a:p>
        </p:txBody>
      </p:sp>
      <p:sp>
        <p:nvSpPr>
          <p:cNvPr id="40" name="Text 26">
            <a:extLst>
              <a:ext uri="{FF2B5EF4-FFF2-40B4-BE49-F238E27FC236}">
                <a16:creationId xmlns:a16="http://schemas.microsoft.com/office/drawing/2014/main" id="{8DAAB163-39E4-E499-4DD7-C2944FB311F1}"/>
              </a:ext>
            </a:extLst>
          </p:cNvPr>
          <p:cNvSpPr/>
          <p:nvPr/>
        </p:nvSpPr>
        <p:spPr>
          <a:xfrm>
            <a:off x="1384564" y="5749052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Signal is escalated to concerned authorities </a:t>
            </a:r>
          </a:p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wherever applicable</a:t>
            </a:r>
            <a:endParaRPr lang="en-US" sz="14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F13A756A-D4CD-972A-E30D-65F2B493082D}"/>
              </a:ext>
            </a:extLst>
          </p:cNvPr>
          <p:cNvSpPr/>
          <p:nvPr/>
        </p:nvSpPr>
        <p:spPr>
          <a:xfrm>
            <a:off x="8248874" y="6420922"/>
            <a:ext cx="540663" cy="22860"/>
          </a:xfrm>
          <a:prstGeom prst="roundRect">
            <a:avLst>
              <a:gd name="adj" fmla="val 118281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82835DC5-371E-D2D6-E439-9E9766B195BC}"/>
              </a:ext>
            </a:extLst>
          </p:cNvPr>
          <p:cNvSpPr/>
          <p:nvPr/>
        </p:nvSpPr>
        <p:spPr>
          <a:xfrm>
            <a:off x="7866208" y="6229588"/>
            <a:ext cx="405527" cy="405527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29">
            <a:extLst>
              <a:ext uri="{FF2B5EF4-FFF2-40B4-BE49-F238E27FC236}">
                <a16:creationId xmlns:a16="http://schemas.microsoft.com/office/drawing/2014/main" id="{FE5770B4-817A-5C03-AB6F-DB4C00E186F4}"/>
              </a:ext>
            </a:extLst>
          </p:cNvPr>
          <p:cNvSpPr/>
          <p:nvPr/>
        </p:nvSpPr>
        <p:spPr>
          <a:xfrm>
            <a:off x="7933835" y="626340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6</a:t>
            </a:r>
            <a:endParaRPr lang="en-US" sz="2100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106A573-BF09-4439-4C8A-C4CA0AD5900A}"/>
              </a:ext>
            </a:extLst>
          </p:cNvPr>
          <p:cNvSpPr/>
          <p:nvPr/>
        </p:nvSpPr>
        <p:spPr>
          <a:xfrm>
            <a:off x="8970155" y="6291501"/>
            <a:ext cx="3548182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Resolution and feedback</a:t>
            </a:r>
            <a:endParaRPr lang="en-US" sz="1750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A4F017F8-E9B8-D291-199E-30426E717F6F}"/>
              </a:ext>
            </a:extLst>
          </p:cNvPr>
          <p:cNvSpPr/>
          <p:nvPr/>
        </p:nvSpPr>
        <p:spPr>
          <a:xfrm>
            <a:off x="8970155" y="6681192"/>
            <a:ext cx="5783223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Status updates shared back with the community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91177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USABILITY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Sharing without disrupting work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400" y="1671054"/>
            <a:ext cx="10346054" cy="4615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SafeIn5 fits naturally into the workers daily routine</a:t>
            </a:r>
          </a:p>
          <a:p>
            <a:endParaRPr lang="en-US" sz="20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QR Code scan and check lift plans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Check before doing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No Long forms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No multiple clicks</a:t>
            </a:r>
          </a:p>
          <a:p>
            <a:pPr marL="457200" indent="-457200">
              <a:buFontTx/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Zero mandatory fields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Photo first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Context auto attached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Voice memos with minimal typing – all under 60 seconds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Share anonymously</a:t>
            </a:r>
          </a:p>
          <a:p>
            <a:pPr marL="457200" indent="-457200">
              <a:buAutoNum type="arabicPeriod"/>
            </a:pPr>
            <a:endParaRPr lang="en-US" sz="20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Captures near miss situations early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Quick trends to help supervisors take action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Work in low connectivity environments</a:t>
            </a: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algn="ctr"/>
            <a:endParaRPr lang="en-US" sz="16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761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A992-C638-F423-7F68-084AF4A3B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>
            <a:extLst>
              <a:ext uri="{FF2B5EF4-FFF2-40B4-BE49-F238E27FC236}">
                <a16:creationId xmlns:a16="http://schemas.microsoft.com/office/drawing/2014/main" id="{D366D7D5-B14F-028F-59A8-27683F7D8E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09661" y="40640"/>
            <a:ext cx="5920739" cy="7712666"/>
          </a:xfrm>
          <a:prstGeom prst="rect">
            <a:avLst/>
          </a:prstGeom>
        </p:spPr>
      </p:pic>
      <p:sp>
        <p:nvSpPr>
          <p:cNvPr id="3" name="Shape 1">
            <a:extLst>
              <a:ext uri="{FF2B5EF4-FFF2-40B4-BE49-F238E27FC236}">
                <a16:creationId xmlns:a16="http://schemas.microsoft.com/office/drawing/2014/main" id="{87EDCD1A-2A27-3C2A-FC75-6021D25228CC}"/>
              </a:ext>
            </a:extLst>
          </p:cNvPr>
          <p:cNvSpPr/>
          <p:nvPr/>
        </p:nvSpPr>
        <p:spPr>
          <a:xfrm>
            <a:off x="3200401" y="739141"/>
            <a:ext cx="4709160" cy="14020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D1C235-4A59-8DE8-9CF6-83B82A69197F}"/>
              </a:ext>
            </a:extLst>
          </p:cNvPr>
          <p:cNvSpPr/>
          <p:nvPr/>
        </p:nvSpPr>
        <p:spPr>
          <a:xfrm>
            <a:off x="3200399" y="739141"/>
            <a:ext cx="47091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MVP SCOPE</a:t>
            </a:r>
            <a:endParaRPr lang="en-US" sz="5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D493D15-EF4E-5F6C-9529-942514913095}"/>
              </a:ext>
            </a:extLst>
          </p:cNvPr>
          <p:cNvSpPr/>
          <p:nvPr/>
        </p:nvSpPr>
        <p:spPr>
          <a:xfrm>
            <a:off x="3200397" y="6630734"/>
            <a:ext cx="4709162" cy="85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/>
              <a:t>Key Features, In-Scope, Out of Scope, NFR’s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0431FB-7BFF-CCFA-0864-0088927BDD12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5735F6E6-34EA-0154-3F84-FB4A279409B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9662" y="1253439"/>
            <a:ext cx="5905499" cy="5905499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A7DEF32D-0F6A-DD9B-CE68-61514297F97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3CC609BC-03DF-C2BF-6EC6-D94EE2E3CF22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7E2E572-8B67-D702-1140-956ADCBE80EF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9DA41368-8CAC-DD4B-405C-88BD80CC049D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9FBE9E12-6ABD-F4C7-C9D5-67F6EE4CFE0F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26EDEC2A-9A14-FDDC-F34C-077075C60B11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1" name="Shape 12">
            <a:extLst>
              <a:ext uri="{FF2B5EF4-FFF2-40B4-BE49-F238E27FC236}">
                <a16:creationId xmlns:a16="http://schemas.microsoft.com/office/drawing/2014/main" id="{33DA85A9-AFE6-6527-D27D-0A99CA51EEC4}"/>
              </a:ext>
            </a:extLst>
          </p:cNvPr>
          <p:cNvSpPr/>
          <p:nvPr/>
        </p:nvSpPr>
        <p:spPr>
          <a:xfrm>
            <a:off x="1" y="777081"/>
            <a:ext cx="1927861" cy="7621"/>
          </a:xfrm>
          <a:prstGeom prst="rect">
            <a:avLst/>
          </a:prstGeom>
          <a:solidFill>
            <a:srgbClr val="232327"/>
          </a:solidFill>
          <a:ln/>
        </p:spPr>
        <p:txBody>
          <a:bodyPr/>
          <a:lstStyle/>
          <a:p>
            <a:endParaRPr lang="en-US" sz="288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731A5BAB-3BA2-110B-6925-646FD60759F1}"/>
              </a:ext>
            </a:extLst>
          </p:cNvPr>
          <p:cNvSpPr/>
          <p:nvPr/>
        </p:nvSpPr>
        <p:spPr>
          <a:xfrm>
            <a:off x="576650" y="837422"/>
            <a:ext cx="131826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12"/>
              </a:lnSpc>
            </a:pPr>
            <a:r>
              <a:rPr lang="en-US" sz="912" dirty="0">
                <a:solidFill>
                  <a:srgbClr val="232327">
                    <a:alpha val="99000"/>
                  </a:srgbClr>
                </a:solidFill>
                <a:latin typeface="Andale Mono" panose="020B0509000000000004" pitchFamily="49" charset="0"/>
                <a:ea typeface="IBM Plex Mono" pitchFamily="34" charset="-122"/>
                <a:cs typeface="IBM Plex Mono" pitchFamily="34" charset="-120"/>
              </a:rPr>
              <a:t>SAFEIN5 - PROPOSAL</a:t>
            </a:r>
            <a:endParaRPr lang="en-US" sz="912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342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MVP GOALS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6C7ED8AC-75F0-A4F9-EF01-8BEB90909C9C}"/>
              </a:ext>
            </a:extLst>
          </p:cNvPr>
          <p:cNvSpPr/>
          <p:nvPr/>
        </p:nvSpPr>
        <p:spPr>
          <a:xfrm>
            <a:off x="3104503" y="982981"/>
            <a:ext cx="7252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Calibri" panose="020F0502020204030204" pitchFamily="34" charset="0"/>
                <a:ea typeface="Montserrat Semi Bold" pitchFamily="34" charset="-122"/>
                <a:cs typeface="Calibri" panose="020F0502020204030204" pitchFamily="34" charset="0"/>
              </a:rPr>
              <a:t>Key MVP features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D6101D-A870-4E76-C2A4-7E8772A29DBB}"/>
              </a:ext>
            </a:extLst>
          </p:cNvPr>
          <p:cNvSpPr/>
          <p:nvPr/>
        </p:nvSpPr>
        <p:spPr>
          <a:xfrm>
            <a:off x="3104503" y="1719357"/>
            <a:ext cx="4964459" cy="1730812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88AA5E8-7639-8D84-C371-7BC37555BB45}"/>
              </a:ext>
            </a:extLst>
          </p:cNvPr>
          <p:cNvSpPr/>
          <p:nvPr/>
        </p:nvSpPr>
        <p:spPr>
          <a:xfrm>
            <a:off x="3361797" y="1976651"/>
            <a:ext cx="5573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Mobile First PWA app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027DB31-C052-C5B9-B7F7-39597F07519D}"/>
              </a:ext>
            </a:extLst>
          </p:cNvPr>
          <p:cNvSpPr/>
          <p:nvPr/>
        </p:nvSpPr>
        <p:spPr>
          <a:xfrm>
            <a:off x="3361797" y="2467069"/>
            <a:ext cx="425473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 cloud native, multi-tenant, SaaS platform 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that is front line friendly</a:t>
            </a:r>
            <a:endParaRPr lang="en-US" sz="17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3F0EE2E-EFA8-58AF-E3B9-2A58C93E33E5}"/>
              </a:ext>
            </a:extLst>
          </p:cNvPr>
          <p:cNvSpPr/>
          <p:nvPr/>
        </p:nvSpPr>
        <p:spPr>
          <a:xfrm>
            <a:off x="8429433" y="1719357"/>
            <a:ext cx="5138290" cy="1730812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6EEAD13-2D51-9DEE-B528-A28B5314D919}"/>
              </a:ext>
            </a:extLst>
          </p:cNvPr>
          <p:cNvSpPr/>
          <p:nvPr/>
        </p:nvSpPr>
        <p:spPr>
          <a:xfrm>
            <a:off x="8686726" y="19766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User Engagement</a:t>
            </a:r>
            <a:endParaRPr lang="en-US" sz="2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91E164D-B131-92F4-9A7F-AC0309A137EB}"/>
              </a:ext>
            </a:extLst>
          </p:cNvPr>
          <p:cNvSpPr/>
          <p:nvPr/>
        </p:nvSpPr>
        <p:spPr>
          <a:xfrm>
            <a:off x="8686727" y="2467069"/>
            <a:ext cx="47080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Instrument and track usage metrics for improving feature adoption and engagement</a:t>
            </a:r>
            <a:endParaRPr lang="en-US" sz="17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B39A8BA-9816-241D-5E37-7924E9567912}"/>
              </a:ext>
            </a:extLst>
          </p:cNvPr>
          <p:cNvSpPr/>
          <p:nvPr/>
        </p:nvSpPr>
        <p:spPr>
          <a:xfrm>
            <a:off x="3104503" y="3676983"/>
            <a:ext cx="4964459" cy="1730812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56B964A-4BA7-C0EE-DB8D-BAD138D17D56}"/>
              </a:ext>
            </a:extLst>
          </p:cNvPr>
          <p:cNvSpPr/>
          <p:nvPr/>
        </p:nvSpPr>
        <p:spPr>
          <a:xfrm>
            <a:off x="3361797" y="3934276"/>
            <a:ext cx="3224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089F0A2-93B2-3215-07E2-7719F11F9310}"/>
              </a:ext>
            </a:extLst>
          </p:cNvPr>
          <p:cNvSpPr/>
          <p:nvPr/>
        </p:nvSpPr>
        <p:spPr>
          <a:xfrm>
            <a:off x="3361797" y="4424695"/>
            <a:ext cx="47071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Frictionless capture in &lt;60s. </a:t>
            </a:r>
            <a:b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Low network connectivity resilience</a:t>
            </a:r>
            <a:endParaRPr lang="en-US" sz="175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D131691F-5490-7E5A-4570-7004877E2720}"/>
              </a:ext>
            </a:extLst>
          </p:cNvPr>
          <p:cNvSpPr/>
          <p:nvPr/>
        </p:nvSpPr>
        <p:spPr>
          <a:xfrm>
            <a:off x="8429433" y="3676982"/>
            <a:ext cx="5138290" cy="1730813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170AED6-A35F-3ACF-DD61-34FAB4673CA0}"/>
              </a:ext>
            </a:extLst>
          </p:cNvPr>
          <p:cNvSpPr/>
          <p:nvPr/>
        </p:nvSpPr>
        <p:spPr>
          <a:xfrm>
            <a:off x="8686726" y="3934276"/>
            <a:ext cx="4489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Context Aware QR workflows</a:t>
            </a:r>
            <a:endParaRPr lang="en-US" sz="22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F81AA2C-3F68-030E-A249-A4CB40F09A8A}"/>
              </a:ext>
            </a:extLst>
          </p:cNvPr>
          <p:cNvSpPr/>
          <p:nvPr/>
        </p:nvSpPr>
        <p:spPr>
          <a:xfrm>
            <a:off x="8723797" y="4424695"/>
            <a:ext cx="46709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Context linked to QR codes – site, subsite, asset, Learn 5. rescue plan etc. </a:t>
            </a:r>
            <a:endParaRPr lang="en-US" sz="175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7CE7F642-AA6D-20F7-2E3B-68E989943D2E}"/>
              </a:ext>
            </a:extLst>
          </p:cNvPr>
          <p:cNvSpPr/>
          <p:nvPr/>
        </p:nvSpPr>
        <p:spPr>
          <a:xfrm>
            <a:off x="3132211" y="5647790"/>
            <a:ext cx="4964459" cy="1730812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6740412-D49D-2645-2C23-03815118C04D}"/>
              </a:ext>
            </a:extLst>
          </p:cNvPr>
          <p:cNvSpPr/>
          <p:nvPr/>
        </p:nvSpPr>
        <p:spPr>
          <a:xfrm>
            <a:off x="3389505" y="5905083"/>
            <a:ext cx="3224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Future Signal Readiness</a:t>
            </a:r>
            <a:endParaRPr lang="en-US" sz="22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DB3204DC-5EEA-CC09-C448-DB7C3353754C}"/>
              </a:ext>
            </a:extLst>
          </p:cNvPr>
          <p:cNvSpPr/>
          <p:nvPr/>
        </p:nvSpPr>
        <p:spPr>
          <a:xfrm>
            <a:off x="3389505" y="6395502"/>
            <a:ext cx="47071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Reactive Reporting to shared behavioral awareness in the future</a:t>
            </a:r>
            <a:endParaRPr lang="en-US" sz="17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74AB9550-DC54-DBF8-5DED-E98B657DF6E1}"/>
              </a:ext>
            </a:extLst>
          </p:cNvPr>
          <p:cNvSpPr/>
          <p:nvPr/>
        </p:nvSpPr>
        <p:spPr>
          <a:xfrm>
            <a:off x="8457141" y="5647789"/>
            <a:ext cx="5138290" cy="1730813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7A76D99D-5392-F4FD-9987-029EDAFA4DEC}"/>
              </a:ext>
            </a:extLst>
          </p:cNvPr>
          <p:cNvSpPr/>
          <p:nvPr/>
        </p:nvSpPr>
        <p:spPr>
          <a:xfrm>
            <a:off x="8714434" y="5905083"/>
            <a:ext cx="4489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Designed for “Safer by Sharing”</a:t>
            </a:r>
            <a:endParaRPr lang="en-US" sz="22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B3631C4-7505-34A5-C492-77B82BC9C88E}"/>
              </a:ext>
            </a:extLst>
          </p:cNvPr>
          <p:cNvSpPr/>
          <p:nvPr/>
        </p:nvSpPr>
        <p:spPr>
          <a:xfrm>
            <a:off x="8751505" y="6395502"/>
            <a:ext cx="46709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Influencer model rather than compliance driven.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6494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SCOPE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MVP  Scope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2808171"/>
            <a:ext cx="4785203" cy="4615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Mobile App</a:t>
            </a:r>
            <a:endParaRPr lang="en-IN" b="1" kern="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User authentication and role based access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QR contextual routing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PULSE flow – optional attributes to be attached wherever allowed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Behaviour Signal capture – photo, video, text, voice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Media upload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Classification – 3 options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Learn 5 – content management and mapping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Feed Visibility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Supervisor flow</a:t>
            </a:r>
            <a:endParaRPr lang="en-IN" kern="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 12">
            <a:extLst>
              <a:ext uri="{FF2B5EF4-FFF2-40B4-BE49-F238E27FC236}">
                <a16:creationId xmlns:a16="http://schemas.microsoft.com/office/drawing/2014/main" id="{693F23BB-6B30-4ABE-754B-59F7520FF45C}"/>
              </a:ext>
            </a:extLst>
          </p:cNvPr>
          <p:cNvSpPr/>
          <p:nvPr/>
        </p:nvSpPr>
        <p:spPr>
          <a:xfrm>
            <a:off x="3200399" y="1626970"/>
            <a:ext cx="94409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following Features will be included as a part of MVP  (Ref. SafeIn5 Dev Pack V9 </a:t>
            </a:r>
            <a:r>
              <a:rPr lang="en-US" sz="1600" dirty="0" err="1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Issue.pdf</a:t>
            </a:r>
            <a:r>
              <a:rPr lang="en-US" sz="16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). </a:t>
            </a:r>
            <a:br>
              <a:rPr lang="en-US" sz="16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All items that are marked MUST and SHOULD have been included in the scope.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AAFB5-B9F6-0E3D-C41B-6AD2B7B85FE5}"/>
              </a:ext>
            </a:extLst>
          </p:cNvPr>
          <p:cNvSpPr txBox="1"/>
          <p:nvPr/>
        </p:nvSpPr>
        <p:spPr>
          <a:xfrm>
            <a:off x="8880557" y="2808171"/>
            <a:ext cx="47852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ts val="1000"/>
              <a:tabLst>
                <a:tab pos="457200" algn="l"/>
              </a:tabLst>
            </a:pPr>
            <a:r>
              <a:rPr lang="en-IN" b="1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Lightweight Admin module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 5 content </a:t>
            </a: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management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 / site / subsite setup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Management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Site, Fixtures and other asset setup</a:t>
            </a:r>
          </a:p>
          <a:p>
            <a:pPr marL="34290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QR C</a:t>
            </a: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ontext mapping to site, subsite, assets, learn 5 content, Rescue plan etc.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dashboard – Engagement Analytics</a:t>
            </a: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IN" kern="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Feed Moderation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4933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OUT OF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SCOPE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MVP  - Not in Scope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400" y="1671054"/>
            <a:ext cx="10346054" cy="4615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Phase 2 scope</a:t>
            </a:r>
          </a:p>
          <a:p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are planned for Phase 2 and are not part of the MVP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AI / ML / predictive models and automated classification.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Multilingual / localisation (the MVP is English-only).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 offline-first capture and sync store.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SSO / enterprise IdP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SaaS billing / subscriptions / super-admin panel (the MVP keeps the architecture ready for this).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Cross-site / industry benchmarking, risk heat map, master-library CRUD, advanced/deep search, and predictive nudges.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Automated insights workflow (auto-generated push notifications).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Manual / user tagging in the feed.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Full theming / design-system customisation (beyond tenant logo and colour).</a:t>
            </a:r>
          </a:p>
          <a:p>
            <a:endParaRPr lang="en-IN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Features Not Required</a:t>
            </a:r>
          </a:p>
          <a:p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following are explicitly out of scope and not planned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Legacy data migration.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Corporate / external system integrations.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Native iOS / Android apps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Bulk user import / CSV provisioning (Community self-registration is in scope)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Physical QR sticker production and hardware.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IN" sz="16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utomatic face-blurring</a:t>
            </a:r>
          </a:p>
        </p:txBody>
      </p:sp>
    </p:spTree>
    <p:extLst>
      <p:ext uri="{BB962C8B-B14F-4D97-AF65-F5344CB8AC3E}">
        <p14:creationId xmlns:p14="http://schemas.microsoft.com/office/powerpoint/2010/main" val="29595588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NFRs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Non-Functional requirements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671054"/>
            <a:ext cx="8432799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proposed architecture supports the following Non-functional requirements</a:t>
            </a: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09DB5A-BEE6-19C2-1CA4-B3441A25A0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831812"/>
              </p:ext>
            </p:extLst>
          </p:nvPr>
        </p:nvGraphicFramePr>
        <p:xfrm>
          <a:off x="3200399" y="2423954"/>
          <a:ext cx="10423526" cy="4206240"/>
        </p:xfrm>
        <a:graphic>
          <a:graphicData uri="http://schemas.openxmlformats.org/drawingml/2006/table">
            <a:tbl>
              <a:tblPr/>
              <a:tblGrid>
                <a:gridCol w="2826328">
                  <a:extLst>
                    <a:ext uri="{9D8B030D-6E8A-4147-A177-3AD203B41FA5}">
                      <a16:colId xmlns:a16="http://schemas.microsoft.com/office/drawing/2014/main" val="2806194864"/>
                    </a:ext>
                  </a:extLst>
                </a:gridCol>
                <a:gridCol w="7597198">
                  <a:extLst>
                    <a:ext uri="{9D8B030D-6E8A-4147-A177-3AD203B41FA5}">
                      <a16:colId xmlns:a16="http://schemas.microsoft.com/office/drawing/2014/main" val="4140829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78117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~60 users across pilot sites, with architecture designed for scale to additional sites and organisations.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9817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Learn 5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~20–30 learning modules authored by SafeIn5 and uploaded into the system for contextual delivery.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979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Video Capture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Maximum video duration of 30 seconds per clip to control payload size and ensure fast uploads.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6516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Supported Browsers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Safari (iOS) and Chrome (Android) for field and mobile usage.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694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Residency &amp; Privacy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EU-based data residency with GDPR compliance, including export, delete, and retention policies. Anonymity enforced at database layer, tenant-based isolation between Community and Corporate data. Append-only audit logging enabled.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4541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Deployment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Multi-tenant deployment supporting 3 organisations × 3 sites plus a shared Community tenant, initially focused on UK extractive/quarrying domain.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657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69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FC8C-CE55-F394-334E-0BE059BE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E8E6BDC-5A51-1754-2C80-5725C9DCCDF3}"/>
              </a:ext>
            </a:extLst>
          </p:cNvPr>
          <p:cNvSpPr/>
          <p:nvPr/>
        </p:nvSpPr>
        <p:spPr>
          <a:xfrm>
            <a:off x="3200401" y="739141"/>
            <a:ext cx="4709160" cy="14020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88D05A-58AE-0447-CEC1-F2A5346E11BC}"/>
              </a:ext>
            </a:extLst>
          </p:cNvPr>
          <p:cNvSpPr/>
          <p:nvPr/>
        </p:nvSpPr>
        <p:spPr>
          <a:xfrm>
            <a:off x="3200399" y="739141"/>
            <a:ext cx="47091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TECHNICAL </a:t>
            </a:r>
            <a:b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SOLUTION</a:t>
            </a:r>
            <a:endParaRPr lang="en-US" sz="5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1D80E-6CFA-14EF-530C-00C6C7F5C28D}"/>
              </a:ext>
            </a:extLst>
          </p:cNvPr>
          <p:cNvSpPr/>
          <p:nvPr/>
        </p:nvSpPr>
        <p:spPr>
          <a:xfrm>
            <a:off x="3200397" y="6630734"/>
            <a:ext cx="4709162" cy="85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/>
              <a:t>Principles, Architecture, Design, </a:t>
            </a:r>
          </a:p>
          <a:p>
            <a:r>
              <a:rPr lang="en-IN" sz="2400" dirty="0"/>
              <a:t>Tech Stack 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7821BEB-2657-FCDC-8948-F6043F5D69E9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E4F5936-CE38-AAE3-C1CD-2E1254C718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1B0B80A4-1348-3719-9D99-23764165BD45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6525BC-F162-DE33-84F2-677123F9B4C3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1748A369-2006-A19E-83BE-9C8595362B82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24D8976B-FDE9-F87F-5C38-221D75F28CA8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50CDCF8A-FD39-C138-1DEE-4EBA8EE4668C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1" name="Shape 12">
            <a:extLst>
              <a:ext uri="{FF2B5EF4-FFF2-40B4-BE49-F238E27FC236}">
                <a16:creationId xmlns:a16="http://schemas.microsoft.com/office/drawing/2014/main" id="{11C59E85-CD6D-3375-DE10-1F436CBD371B}"/>
              </a:ext>
            </a:extLst>
          </p:cNvPr>
          <p:cNvSpPr/>
          <p:nvPr/>
        </p:nvSpPr>
        <p:spPr>
          <a:xfrm>
            <a:off x="1" y="777081"/>
            <a:ext cx="1927861" cy="7621"/>
          </a:xfrm>
          <a:prstGeom prst="rect">
            <a:avLst/>
          </a:prstGeom>
          <a:solidFill>
            <a:srgbClr val="232327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58BD79F9-7BDD-4E96-1F0F-76BFC1EF78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2041" y="0"/>
            <a:ext cx="5928360" cy="7741920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58F6A4A3-4AB1-078D-F9F2-823D080208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9662" y="1253439"/>
            <a:ext cx="5905499" cy="5905499"/>
          </a:xfrm>
          <a:prstGeom prst="rect">
            <a:avLst/>
          </a:prstGeom>
        </p:spPr>
      </p:pic>
      <p:sp>
        <p:nvSpPr>
          <p:cNvPr id="6" name="Text 14">
            <a:extLst>
              <a:ext uri="{FF2B5EF4-FFF2-40B4-BE49-F238E27FC236}">
                <a16:creationId xmlns:a16="http://schemas.microsoft.com/office/drawing/2014/main" id="{81AD607C-F804-E232-8193-7AD05D105554}"/>
              </a:ext>
            </a:extLst>
          </p:cNvPr>
          <p:cNvSpPr/>
          <p:nvPr/>
        </p:nvSpPr>
        <p:spPr>
          <a:xfrm>
            <a:off x="609601" y="845662"/>
            <a:ext cx="131826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12"/>
              </a:lnSpc>
            </a:pPr>
            <a:r>
              <a:rPr lang="en-US" sz="912" dirty="0">
                <a:solidFill>
                  <a:srgbClr val="232327">
                    <a:alpha val="99000"/>
                  </a:srgbClr>
                </a:solidFill>
                <a:latin typeface="Andale Mono" panose="020B0509000000000004" pitchFamily="49" charset="0"/>
                <a:ea typeface="IBM Plex Mono" pitchFamily="34" charset="-122"/>
                <a:cs typeface="IBM Plex Mono" pitchFamily="34" charset="-120"/>
              </a:rPr>
              <a:t>SAFEIN5 - PROPOSAL</a:t>
            </a:r>
            <a:endParaRPr lang="en-US" sz="912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2061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TECHNICAL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SOLUTION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" name="Shape 1">
            <a:extLst>
              <a:ext uri="{FF2B5EF4-FFF2-40B4-BE49-F238E27FC236}">
                <a16:creationId xmlns:a16="http://schemas.microsoft.com/office/drawing/2014/main" id="{725965C3-7F32-32E4-6B31-1F953F292FA7}"/>
              </a:ext>
            </a:extLst>
          </p:cNvPr>
          <p:cNvSpPr/>
          <p:nvPr/>
        </p:nvSpPr>
        <p:spPr>
          <a:xfrm>
            <a:off x="2794500" y="1844577"/>
            <a:ext cx="5212678" cy="3091106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F5B68DFA-A79B-D151-2549-04F5C58809EA}"/>
              </a:ext>
            </a:extLst>
          </p:cNvPr>
          <p:cNvSpPr/>
          <p:nvPr/>
        </p:nvSpPr>
        <p:spPr>
          <a:xfrm>
            <a:off x="2976785" y="2026861"/>
            <a:ext cx="4932776" cy="2908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464646"/>
                </a:solidFill>
                <a:latin typeface="Calibri" panose="020F0502020204030204" pitchFamily="34" charset="0"/>
                <a:ea typeface="Montserrat Semi Bold" pitchFamily="34" charset="-122"/>
                <a:cs typeface="Calibri" panose="020F0502020204030204" pitchFamily="34" charset="0"/>
              </a:rPr>
              <a:t>MVP Philosophy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Scalable foundation – Not a throwaway MVP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Future Ready architecture and Design for scale. 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Build – Measure - Learn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Instrument the platform to capture usage metrics to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drive product decisions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Outcome driven MVP scope management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Balance between cost, time to market and product. 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Prioritize scope based on success metrics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</a:rPr>
              <a:t>Fail Fast</a:t>
            </a:r>
            <a:b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Validate assumptions before investing</a:t>
            </a:r>
          </a:p>
          <a:p>
            <a:pPr algn="l">
              <a:lnSpc>
                <a:spcPts val="1950"/>
              </a:lnSpc>
            </a:pPr>
            <a:endParaRPr lang="en-US" sz="1550" dirty="0"/>
          </a:p>
          <a:p>
            <a:pPr marL="342900" indent="-342900" algn="l">
              <a:lnSpc>
                <a:spcPts val="1950"/>
              </a:lnSpc>
              <a:buAutoNum type="arabicPeriod"/>
            </a:pPr>
            <a:endParaRPr lang="en-US" sz="15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35F3E5A5-B96A-C9F8-ADDE-A22CF4DD4833}"/>
              </a:ext>
            </a:extLst>
          </p:cNvPr>
          <p:cNvSpPr/>
          <p:nvPr/>
        </p:nvSpPr>
        <p:spPr>
          <a:xfrm>
            <a:off x="8315463" y="1852197"/>
            <a:ext cx="5304804" cy="3083485"/>
          </a:xfrm>
          <a:prstGeom prst="roundRect">
            <a:avLst>
              <a:gd name="adj" fmla="val 513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25256F1E-A818-8DB8-D091-344D7C9A69B6}"/>
              </a:ext>
            </a:extLst>
          </p:cNvPr>
          <p:cNvSpPr/>
          <p:nvPr/>
        </p:nvSpPr>
        <p:spPr>
          <a:xfrm>
            <a:off x="2813336" y="5065161"/>
            <a:ext cx="5299176" cy="2935829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0A840497-4EE1-5D76-1CF4-3218AAC72798}"/>
              </a:ext>
            </a:extLst>
          </p:cNvPr>
          <p:cNvSpPr/>
          <p:nvPr/>
        </p:nvSpPr>
        <p:spPr>
          <a:xfrm>
            <a:off x="2976785" y="5183282"/>
            <a:ext cx="4932776" cy="2733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Architecture</a:t>
            </a:r>
            <a:endParaRPr lang="en-US" sz="1550" dirty="0">
              <a:solidFill>
                <a:srgbClr val="464646"/>
              </a:solidFill>
              <a:latin typeface="Montserrat Semi Bold" pitchFamily="34" charset="0"/>
            </a:endParaRPr>
          </a:p>
          <a:p>
            <a:pPr marL="342900" indent="-342900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Cloud Native, Multi-tenant architecture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segregation at tenant level. 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 Services for scale and modularity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Adapter pattern for Integrations such as Learn 5 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Content integration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first design 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Configurable workflows for AI readiness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Relationship aware data model to enable better insights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endParaRPr lang="en-US" sz="1600" dirty="0">
              <a:solidFill>
                <a:srgbClr val="46464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950"/>
              </a:lnSpc>
              <a:buAutoNum type="arabicPeriod"/>
            </a:pPr>
            <a:endParaRPr lang="en-US" sz="1600" dirty="0">
              <a:solidFill>
                <a:srgbClr val="46464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A1C99E73-2AB7-261D-BE41-C62709337856}"/>
              </a:ext>
            </a:extLst>
          </p:cNvPr>
          <p:cNvSpPr/>
          <p:nvPr/>
        </p:nvSpPr>
        <p:spPr>
          <a:xfrm>
            <a:off x="8275961" y="5065161"/>
            <a:ext cx="5299176" cy="29088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B7208BDA-2283-A6D8-7EE2-FA8DB742163E}"/>
              </a:ext>
            </a:extLst>
          </p:cNvPr>
          <p:cNvSpPr/>
          <p:nvPr/>
        </p:nvSpPr>
        <p:spPr>
          <a:xfrm>
            <a:off x="8436604" y="5183282"/>
            <a:ext cx="4932776" cy="252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Future Readiness</a:t>
            </a:r>
            <a:endParaRPr lang="en-US" sz="1550" dirty="0">
              <a:solidFill>
                <a:srgbClr val="464646"/>
              </a:solidFill>
              <a:latin typeface="Montserrat Semi Bold" pitchFamily="34" charset="0"/>
            </a:endParaRP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Workflows designed such that they can be replaced by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AI Agents in the future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Separate Intelligence Layer to replace Rule based insights 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ML Models for future SIGNAL intelligence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QR Ecosystem expansion – QR routing implemented as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configurable workflow to support future expansion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Corporate and Community Operating models supported</a:t>
            </a:r>
            <a:b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solidFill>
                  <a:srgbClr val="464646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by Tenants and Configurable workflows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endParaRPr lang="en-US" sz="1600" dirty="0">
              <a:solidFill>
                <a:srgbClr val="46464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>
              <a:lnSpc>
                <a:spcPts val="1950"/>
              </a:lnSpc>
              <a:buAutoNum type="arabicPeriod"/>
            </a:pPr>
            <a:endParaRPr lang="en-US" sz="1600" dirty="0">
              <a:solidFill>
                <a:srgbClr val="464646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A5A0452-9821-6622-859E-DB3DDAEF898D}"/>
              </a:ext>
            </a:extLst>
          </p:cNvPr>
          <p:cNvSpPr/>
          <p:nvPr/>
        </p:nvSpPr>
        <p:spPr>
          <a:xfrm>
            <a:off x="8498664" y="2026861"/>
            <a:ext cx="4932776" cy="2908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UX principles</a:t>
            </a:r>
            <a:endParaRPr lang="en-US" sz="1550" dirty="0"/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Context specific content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Show Learn5, Rescue Plan etc. specific to the context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(site, subsite, asset) to avoid scroll, click etc. 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Media not forms 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– Designed for Harsh environments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Photos, Videos, Voice notes to minimize keyboard usage 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for usability with Gloves and goggles. 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Capture First, Sync Later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Allows users to complete workflows with Async uploads </a:t>
            </a:r>
            <a:b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and retries built-in</a:t>
            </a:r>
          </a:p>
          <a:p>
            <a:pPr marL="342900" indent="-342900" algn="l">
              <a:lnSpc>
                <a:spcPts val="1950"/>
              </a:lnSpc>
              <a:buAutoNum type="arabicPeriod"/>
            </a:pPr>
            <a:r>
              <a:rPr lang="en-US" sz="1550" b="1" dirty="0">
                <a:latin typeface="Calibri" panose="020F0502020204030204" pitchFamily="34" charset="0"/>
                <a:cs typeface="Calibri" panose="020F0502020204030204" pitchFamily="34" charset="0"/>
              </a:rPr>
              <a:t>Themes</a:t>
            </a:r>
            <a:r>
              <a:rPr lang="en-US" sz="1550" dirty="0">
                <a:latin typeface="Calibri" panose="020F0502020204030204" pitchFamily="34" charset="0"/>
                <a:cs typeface="Calibri" panose="020F0502020204030204" pitchFamily="34" charset="0"/>
              </a:rPr>
              <a:t> for Corporate branding / personalization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BCDC7C2-B83A-FD89-2397-A970C7C42233}"/>
              </a:ext>
            </a:extLst>
          </p:cNvPr>
          <p:cNvSpPr/>
          <p:nvPr/>
        </p:nvSpPr>
        <p:spPr>
          <a:xfrm>
            <a:off x="2976785" y="969947"/>
            <a:ext cx="7252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Calibri" panose="020F0502020204030204" pitchFamily="34" charset="0"/>
                <a:ea typeface="Montserrat Semi Bold" pitchFamily="34" charset="-122"/>
                <a:cs typeface="Calibri" panose="020F0502020204030204" pitchFamily="34" charset="0"/>
              </a:rPr>
              <a:t>Technical Approach and Principles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9044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284205" y="1251955"/>
            <a:ext cx="2384854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ARCHITECTURE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System Architecture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671054"/>
            <a:ext cx="10465361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proposed SafeIn5 system architecture is divided into 5 layers to support the Mobile first PULSE experience and scalable SIGNAL loop and Insights. Intelligence Layer supports the future AI needs. 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C0F5219-A35A-D704-403F-BC71B6C57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931548"/>
              </p:ext>
            </p:extLst>
          </p:nvPr>
        </p:nvGraphicFramePr>
        <p:xfrm>
          <a:off x="3200399" y="2399771"/>
          <a:ext cx="10245435" cy="5349770"/>
        </p:xfrm>
        <a:graphic>
          <a:graphicData uri="http://schemas.openxmlformats.org/drawingml/2006/table">
            <a:tbl>
              <a:tblPr/>
              <a:tblGrid>
                <a:gridCol w="1922318">
                  <a:extLst>
                    <a:ext uri="{9D8B030D-6E8A-4147-A177-3AD203B41FA5}">
                      <a16:colId xmlns:a16="http://schemas.microsoft.com/office/drawing/2014/main" val="206609148"/>
                    </a:ext>
                  </a:extLst>
                </a:gridCol>
                <a:gridCol w="3803073">
                  <a:extLst>
                    <a:ext uri="{9D8B030D-6E8A-4147-A177-3AD203B41FA5}">
                      <a16:colId xmlns:a16="http://schemas.microsoft.com/office/drawing/2014/main" val="3137945768"/>
                    </a:ext>
                  </a:extLst>
                </a:gridCol>
                <a:gridCol w="4520044">
                  <a:extLst>
                    <a:ext uri="{9D8B030D-6E8A-4147-A177-3AD203B41FA5}">
                      <a16:colId xmlns:a16="http://schemas.microsoft.com/office/drawing/2014/main" val="1407034346"/>
                    </a:ext>
                  </a:extLst>
                </a:gridCol>
              </a:tblGrid>
              <a:tr h="224572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Layer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Components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Responsibilities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110376"/>
                  </a:ext>
                </a:extLst>
              </a:tr>
              <a:tr h="1572001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Experience Layer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Mobile PWA (Community, Worker, Supervisor)Desktop Admin Console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Mobile-first </a:t>
                      </a: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experience for Community and Corporate users,  supporting QR Scan, PULSE, Behaviour Signal Capture, Feed, Search, Learn 5, Rescue Plans and Supervisor Actions. </a:t>
                      </a:r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Desktop-first</a:t>
                      </a: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administration experience supporting organisation setup, user management, QR configuration, content management, moderation and analytics.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2649811"/>
                  </a:ext>
                </a:extLst>
              </a:tr>
              <a:tr h="729857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Security &amp; Access Layer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Gateway, Authentication, Authorization, Identity Management, Roles, Tenancy, Audit Logging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Secure API access to platform services through authentication, role-based access control, tenant isolation, and audit logging to ensure data protection and governance.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4145684"/>
                  </a:ext>
                </a:extLst>
              </a:tr>
              <a:tr h="898286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Core Platform Services Layer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Behavioural Signal Service, Media Service, Classification Service, Search Service, QR Service, Workflow Service, Notification Service, Context Engine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REST services implementing core SafeIn5 capabilities including signal capture and lifecycle management, media processing, classification, search, QR context mapping, workflow execution and notifications.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9860551"/>
                  </a:ext>
                </a:extLst>
              </a:tr>
              <a:tr h="898286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&amp; Media Layer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Operational Database, Media Storage, Audit Store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Stores behavioural signals, PULSE sessions, workflows, users, sites, assets, QR mappings, learning content, rescue plans, audit logs, photos, and videos with tenant isolation and row-level security.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5030628"/>
                  </a:ext>
                </a:extLst>
              </a:tr>
              <a:tr h="898286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Intelligence Layer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Event Outbox, Event Streams, Metrics Collection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Captures structured behavioural events, workflow events, context relationships, and usage metrics enabling future analytics, intelligence, and predictive insights.</a:t>
                      </a:r>
                    </a:p>
                  </a:txBody>
                  <a:tcPr marL="56143" marR="56143" marT="28071" marB="2807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131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2839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296562" y="1251955"/>
            <a:ext cx="2384854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SOLUTION 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DESIGN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Design Principles 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671054"/>
            <a:ext cx="10465361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following principles guide the design decisions to ensure alignment to SafeIn5 current and future requirements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623BD2-1F71-41E2-966D-D18B73ABC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2437994"/>
              </p:ext>
            </p:extLst>
          </p:nvPr>
        </p:nvGraphicFramePr>
        <p:xfrm>
          <a:off x="3200399" y="2376237"/>
          <a:ext cx="10197774" cy="5328629"/>
        </p:xfrm>
        <a:graphic>
          <a:graphicData uri="http://schemas.openxmlformats.org/drawingml/2006/table">
            <a:tbl>
              <a:tblPr/>
              <a:tblGrid>
                <a:gridCol w="2533136">
                  <a:extLst>
                    <a:ext uri="{9D8B030D-6E8A-4147-A177-3AD203B41FA5}">
                      <a16:colId xmlns:a16="http://schemas.microsoft.com/office/drawing/2014/main" val="2694746221"/>
                    </a:ext>
                  </a:extLst>
                </a:gridCol>
                <a:gridCol w="7664638">
                  <a:extLst>
                    <a:ext uri="{9D8B030D-6E8A-4147-A177-3AD203B41FA5}">
                      <a16:colId xmlns:a16="http://schemas.microsoft.com/office/drawing/2014/main" val="2606290996"/>
                    </a:ext>
                  </a:extLst>
                </a:gridCol>
              </a:tblGrid>
              <a:tr h="354714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Requirement</a:t>
                      </a:r>
                    </a:p>
                  </a:txBody>
                  <a:tcPr marL="47466" marR="47466" marT="23733" marB="237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How We Achieve It</a:t>
                      </a:r>
                    </a:p>
                  </a:txBody>
                  <a:tcPr marL="47466" marR="47466" marT="23733" marB="2373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242136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Under 60-Second Capture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Single-screen capture experience, one-tap classification, background media uploads, and No mandatory inputs.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7880236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Voice &amp; Media First Experience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Speech to Text, photo and video-first capture, minimal keyboard usage, large touch targets, and glove/goggle-friendly interactions.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5418438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Low Connectivity Resilience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Capture-first-sync-later, queued uploads, automatic retries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253951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Anonymity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Anonymity is enforced at the data layer for MVP purposes and masked in audit logs. True anonymity will require masking of location, non-reversal by the admins etc. which is not considered as a part of MVP.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943304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Context-Aware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QR-driven contextual routing, automatic attachment of site/sub-site/asset/task context, contextual PULSE and Rescue Plans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133621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Corporate &amp; Community models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Configurable workflows, multi-tenant architecture, role-based experiences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3220032"/>
                  </a:ext>
                </a:extLst>
              </a:tr>
              <a:tr h="574648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Flexible Learning Platform Integration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Adapter pattern to enable external integrations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439970"/>
                  </a:ext>
                </a:extLst>
              </a:tr>
              <a:tr h="747041">
                <a:tc>
                  <a:txBody>
                    <a:bodyPr/>
                    <a:lstStyle/>
                    <a:p>
                      <a:r>
                        <a:rPr lang="en-IN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Usage Metrics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Collect metrics such as active users, PULSE completion rates, SIGNAL Captures per user, Feed interactions, QR Scan frequency, and Anonymous usage to gain insights on Adoption.</a:t>
                      </a:r>
                    </a:p>
                  </a:txBody>
                  <a:tcPr marL="47466" marR="47466" marT="23733" marB="2373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60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565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">
            <a:extLst>
              <a:ext uri="{FF2B5EF4-FFF2-40B4-BE49-F238E27FC236}">
                <a16:creationId xmlns:a16="http://schemas.microsoft.com/office/drawing/2014/main" id="{9238C915-9337-149B-6BA0-B78EF9B70D45}"/>
              </a:ext>
            </a:extLst>
          </p:cNvPr>
          <p:cNvSpPr/>
          <p:nvPr/>
        </p:nvSpPr>
        <p:spPr>
          <a:xfrm>
            <a:off x="2817700" y="756900"/>
            <a:ext cx="5411541" cy="69621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TECH STACK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" name="Shape 4">
            <a:extLst>
              <a:ext uri="{FF2B5EF4-FFF2-40B4-BE49-F238E27FC236}">
                <a16:creationId xmlns:a16="http://schemas.microsoft.com/office/drawing/2014/main" id="{710FB348-9CB1-8CCF-8A22-2E54C790EB2C}"/>
              </a:ext>
            </a:extLst>
          </p:cNvPr>
          <p:cNvSpPr/>
          <p:nvPr/>
        </p:nvSpPr>
        <p:spPr>
          <a:xfrm>
            <a:off x="8404720" y="774658"/>
            <a:ext cx="5706696" cy="3948760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10">
            <a:extLst>
              <a:ext uri="{FF2B5EF4-FFF2-40B4-BE49-F238E27FC236}">
                <a16:creationId xmlns:a16="http://schemas.microsoft.com/office/drawing/2014/main" id="{C7BE2334-9D62-C7A8-5B63-DD3773DC6F66}"/>
              </a:ext>
            </a:extLst>
          </p:cNvPr>
          <p:cNvSpPr/>
          <p:nvPr/>
        </p:nvSpPr>
        <p:spPr>
          <a:xfrm>
            <a:off x="8404720" y="4826800"/>
            <a:ext cx="5706696" cy="2840978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D352D6A-3328-6069-B70C-A00DBF1EDDD3}"/>
              </a:ext>
            </a:extLst>
          </p:cNvPr>
          <p:cNvSpPr/>
          <p:nvPr/>
        </p:nvSpPr>
        <p:spPr>
          <a:xfrm>
            <a:off x="2935806" y="922021"/>
            <a:ext cx="55736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Application Tech Stack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85E1035-6A35-DC27-91E8-51881640D770}"/>
              </a:ext>
            </a:extLst>
          </p:cNvPr>
          <p:cNvSpPr/>
          <p:nvPr/>
        </p:nvSpPr>
        <p:spPr>
          <a:xfrm>
            <a:off x="8493836" y="897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Data and Platform</a:t>
            </a:r>
            <a:endParaRPr lang="en-US" sz="22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5A5B885-9951-2AD6-40EB-B8738218CBAF}"/>
              </a:ext>
            </a:extLst>
          </p:cNvPr>
          <p:cNvSpPr/>
          <p:nvPr/>
        </p:nvSpPr>
        <p:spPr>
          <a:xfrm>
            <a:off x="8493836" y="4888539"/>
            <a:ext cx="4489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Third Party Services</a:t>
            </a:r>
            <a:endParaRPr lang="en-US" sz="2200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CD97825-54D1-629E-492A-B7C3E07E87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451696"/>
              </p:ext>
            </p:extLst>
          </p:nvPr>
        </p:nvGraphicFramePr>
        <p:xfrm>
          <a:off x="2935806" y="1355337"/>
          <a:ext cx="5136802" cy="623331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805485">
                  <a:extLst>
                    <a:ext uri="{9D8B030D-6E8A-4147-A177-3AD203B41FA5}">
                      <a16:colId xmlns:a16="http://schemas.microsoft.com/office/drawing/2014/main" val="3844757416"/>
                    </a:ext>
                  </a:extLst>
                </a:gridCol>
                <a:gridCol w="3331317">
                  <a:extLst>
                    <a:ext uri="{9D8B030D-6E8A-4147-A177-3AD203B41FA5}">
                      <a16:colId xmlns:a16="http://schemas.microsoft.com/office/drawing/2014/main" val="773818041"/>
                    </a:ext>
                  </a:extLst>
                </a:gridCol>
              </a:tblGrid>
              <a:tr h="320335">
                <a:tc>
                  <a:txBody>
                    <a:bodyPr/>
                    <a:lstStyle/>
                    <a:p>
                      <a:r>
                        <a:rPr lang="en-IN" sz="1400" b="0" dirty="0"/>
                        <a:t>Language &amp; runtime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Node.js (LTS) + TypeScript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1481486049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Backend framework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 err="1"/>
                        <a:t>NestJS</a:t>
                      </a:r>
                      <a:r>
                        <a:rPr lang="en-IN" sz="1400" b="0" dirty="0"/>
                        <a:t> on the </a:t>
                      </a:r>
                      <a:r>
                        <a:rPr lang="en-IN" sz="1400" b="0" dirty="0" err="1"/>
                        <a:t>Fastify</a:t>
                      </a:r>
                      <a:r>
                        <a:rPr lang="en-IN" sz="1400" b="0" dirty="0"/>
                        <a:t> adapter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1299075033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Database access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 err="1"/>
                        <a:t>Kysely</a:t>
                      </a:r>
                      <a:r>
                        <a:rPr lang="en-IN" sz="1400" b="0" dirty="0"/>
                        <a:t> (typed query builder) over Postgres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1999295484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 dirty="0"/>
                        <a:t>Validation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Zod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822421306"/>
                  </a:ext>
                </a:extLst>
              </a:tr>
              <a:tr h="531689">
                <a:tc>
                  <a:txBody>
                    <a:bodyPr/>
                    <a:lstStyle/>
                    <a:p>
                      <a:r>
                        <a:rPr lang="en-IN" sz="1400" b="0"/>
                        <a:t>Field app (Worker &amp; Supervisor)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 err="1"/>
                        <a:t>Next.js</a:t>
                      </a:r>
                      <a:r>
                        <a:rPr lang="en-IN" sz="1400" b="0" dirty="0"/>
                        <a:t> 14 (App Router) + React 18, installable PWA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984667779"/>
                  </a:ext>
                </a:extLst>
              </a:tr>
              <a:tr h="531689">
                <a:tc>
                  <a:txBody>
                    <a:bodyPr/>
                    <a:lstStyle/>
                    <a:p>
                      <a:r>
                        <a:rPr lang="en-IN" sz="1400" b="0"/>
                        <a:t>Admin Console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 err="1"/>
                        <a:t>Next.js</a:t>
                      </a:r>
                      <a:r>
                        <a:rPr lang="en-IN" sz="1400" b="0" dirty="0"/>
                        <a:t> / React </a:t>
                      </a:r>
                      <a:r>
                        <a:rPr lang="en-IN" sz="1400" b="0" dirty="0" err="1"/>
                        <a:t>destop</a:t>
                      </a:r>
                      <a:r>
                        <a:rPr lang="en-IN" sz="1400" b="0" dirty="0"/>
                        <a:t> web app — not a PWA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2670573443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UI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Tailwind CSS + Radix primitives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3677084984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Client state &amp; forms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 err="1"/>
                        <a:t>TanStack</a:t>
                      </a:r>
                      <a:r>
                        <a:rPr lang="en-IN" sz="1400" b="0" dirty="0"/>
                        <a:t> React Query + React Hook Form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2045385958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Media processing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sharp (thumbnails), </a:t>
                      </a:r>
                      <a:r>
                        <a:rPr lang="en-IN" sz="1400" b="0" dirty="0" err="1"/>
                        <a:t>qrcode</a:t>
                      </a:r>
                      <a:r>
                        <a:rPr lang="en-IN" sz="1400" b="0" dirty="0"/>
                        <a:t> (QR generation)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1430177149"/>
                  </a:ext>
                </a:extLst>
              </a:tr>
              <a:tr h="560587">
                <a:tc>
                  <a:txBody>
                    <a:bodyPr/>
                    <a:lstStyle/>
                    <a:p>
                      <a:r>
                        <a:rPr lang="en-IN" sz="1400" b="0"/>
                        <a:t>Authentication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Custom magic-link + email OTP + JWT; </a:t>
                      </a:r>
                      <a:r>
                        <a:rPr lang="en-IN" sz="1400" b="0" dirty="0" err="1"/>
                        <a:t>bcrypt</a:t>
                      </a:r>
                      <a:r>
                        <a:rPr lang="en-IN" sz="1400" b="0" dirty="0"/>
                        <a:t> for admin passwords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2572618129"/>
                  </a:ext>
                </a:extLst>
              </a:tr>
              <a:tr h="320335">
                <a:tc>
                  <a:txBody>
                    <a:bodyPr/>
                    <a:lstStyle/>
                    <a:p>
                      <a:r>
                        <a:rPr lang="en-IN" sz="1400" b="0"/>
                        <a:t>Notifications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web-push (VAPID)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2250757282"/>
                  </a:ext>
                </a:extLst>
              </a:tr>
              <a:tr h="531689">
                <a:tc>
                  <a:txBody>
                    <a:bodyPr/>
                    <a:lstStyle/>
                    <a:p>
                      <a:r>
                        <a:rPr lang="en-IN" sz="1400" b="0"/>
                        <a:t>Logging &amp; metrics</a:t>
                      </a:r>
                      <a:endParaRPr lang="en-IN" sz="1400" b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Pino (structured logs); Prometheus-format metrics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986166648"/>
                  </a:ext>
                </a:extLst>
              </a:tr>
              <a:tr h="757491">
                <a:tc>
                  <a:txBody>
                    <a:bodyPr/>
                    <a:lstStyle/>
                    <a:p>
                      <a:r>
                        <a:rPr lang="en-IN" sz="1400" b="0" dirty="0"/>
                        <a:t>Testing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Jest + </a:t>
                      </a:r>
                      <a:r>
                        <a:rPr lang="en-IN" sz="1400" b="0" dirty="0" err="1"/>
                        <a:t>Supertest</a:t>
                      </a:r>
                      <a:r>
                        <a:rPr lang="en-IN" sz="1400" b="0" dirty="0"/>
                        <a:t> + </a:t>
                      </a:r>
                      <a:r>
                        <a:rPr lang="en-IN" sz="1400" b="0" dirty="0" err="1"/>
                        <a:t>Testcontainers</a:t>
                      </a:r>
                      <a:r>
                        <a:rPr lang="en-IN" sz="1400" b="0" dirty="0"/>
                        <a:t> (API); Playwright + Testing-Library (web)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1801283556"/>
                  </a:ext>
                </a:extLst>
              </a:tr>
              <a:tr h="757491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Usage Metrics – Telemetry Capture</a:t>
                      </a:r>
                    </a:p>
                  </a:txBody>
                  <a:tcPr marL="75671" marR="75671" marT="37835" marB="37835" anchor="ctr"/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Microsoft Clarity, </a:t>
                      </a:r>
                      <a:r>
                        <a:rPr lang="en-IN" sz="14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MixPanel</a:t>
                      </a:r>
                      <a:endParaRPr lang="en-IN" sz="1400" b="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671" marR="75671" marT="37835" marB="37835" anchor="ctr"/>
                </a:tc>
                <a:extLst>
                  <a:ext uri="{0D108BD9-81ED-4DB2-BD59-A6C34878D82A}">
                    <a16:rowId xmlns:a16="http://schemas.microsoft.com/office/drawing/2014/main" val="393186354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BFE0048-26D3-F9EA-BCCA-6665873EB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628117"/>
              </p:ext>
            </p:extLst>
          </p:nvPr>
        </p:nvGraphicFramePr>
        <p:xfrm>
          <a:off x="8451305" y="1355337"/>
          <a:ext cx="5569494" cy="3278816"/>
        </p:xfrm>
        <a:graphic>
          <a:graphicData uri="http://schemas.openxmlformats.org/drawingml/2006/table">
            <a:tbl>
              <a:tblPr/>
              <a:tblGrid>
                <a:gridCol w="1526681">
                  <a:extLst>
                    <a:ext uri="{9D8B030D-6E8A-4147-A177-3AD203B41FA5}">
                      <a16:colId xmlns:a16="http://schemas.microsoft.com/office/drawing/2014/main" val="3295559106"/>
                    </a:ext>
                  </a:extLst>
                </a:gridCol>
                <a:gridCol w="4042813">
                  <a:extLst>
                    <a:ext uri="{9D8B030D-6E8A-4147-A177-3AD203B41FA5}">
                      <a16:colId xmlns:a16="http://schemas.microsoft.com/office/drawing/2014/main" val="4179804784"/>
                    </a:ext>
                  </a:extLst>
                </a:gridCol>
              </a:tblGrid>
              <a:tr h="270319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Primary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Managed Postgres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4204229"/>
                  </a:ext>
                </a:extLst>
              </a:tr>
              <a:tr h="270319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Postgres full-text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6942892"/>
                  </a:ext>
                </a:extLst>
              </a:tr>
              <a:tr h="459542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Object / media store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S3-compatible (S3 / GCS)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594554"/>
                  </a:ext>
                </a:extLst>
              </a:tr>
              <a:tr h="399636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Domain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Transactional outbox in Postgres + polling worker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2932425"/>
                  </a:ext>
                </a:extLst>
              </a:tr>
              <a:tr h="57091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Background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In-process workers — outbox flusher, rule-based alert evaluator, transcription dispatch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9675655"/>
                  </a:ext>
                </a:extLst>
              </a:tr>
              <a:tr h="570910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Packaging &amp; 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Docker container on a managed PaaS (App Runner / Cloud Run / Container Apps)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4645225"/>
                  </a:ext>
                </a:extLst>
              </a:tr>
              <a:tr h="270319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Dev / Staging / Production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183102"/>
                  </a:ext>
                </a:extLst>
              </a:tr>
              <a:tr h="270319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Managed database backups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77020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54C6BDE-8B20-B908-BF4C-D040AA024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469134"/>
              </p:ext>
            </p:extLst>
          </p:nvPr>
        </p:nvGraphicFramePr>
        <p:xfrm>
          <a:off x="8404720" y="5273040"/>
          <a:ext cx="5616079" cy="2468880"/>
        </p:xfrm>
        <a:graphic>
          <a:graphicData uri="http://schemas.openxmlformats.org/drawingml/2006/table">
            <a:tbl>
              <a:tblPr/>
              <a:tblGrid>
                <a:gridCol w="2228341">
                  <a:extLst>
                    <a:ext uri="{9D8B030D-6E8A-4147-A177-3AD203B41FA5}">
                      <a16:colId xmlns:a16="http://schemas.microsoft.com/office/drawing/2014/main" val="2885300454"/>
                    </a:ext>
                  </a:extLst>
                </a:gridCol>
                <a:gridCol w="3387738">
                  <a:extLst>
                    <a:ext uri="{9D8B030D-6E8A-4147-A177-3AD203B41FA5}">
                      <a16:colId xmlns:a16="http://schemas.microsoft.com/office/drawing/2014/main" val="2957294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Cloud  AWS or GCP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Compute, managed Postgres, object store, CDN/WAF, secrets, container registry, log sink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128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Email-sending service (e.g. SES / SendGrid)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Magic-link, OTP, email verification, password reset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8537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Speech-to-text provider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Voice-first capture transcription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209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Web push (VAPID)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Notifications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043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Sentry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Client-side error tracking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59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400" b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GitHub Actions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CI/CD pipeline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6607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1736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FC8C-CE55-F394-334E-0BE059BE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E8E6BDC-5A51-1754-2C80-5725C9DCCDF3}"/>
              </a:ext>
            </a:extLst>
          </p:cNvPr>
          <p:cNvSpPr/>
          <p:nvPr/>
        </p:nvSpPr>
        <p:spPr>
          <a:xfrm>
            <a:off x="3200401" y="739141"/>
            <a:ext cx="4709160" cy="14020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88D05A-58AE-0447-CEC1-F2A5346E11BC}"/>
              </a:ext>
            </a:extLst>
          </p:cNvPr>
          <p:cNvSpPr/>
          <p:nvPr/>
        </p:nvSpPr>
        <p:spPr>
          <a:xfrm>
            <a:off x="3200399" y="739141"/>
            <a:ext cx="4709160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endParaRPr lang="en-US" sz="5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1D80E-6CFA-14EF-530C-00C6C7F5C28D}"/>
              </a:ext>
            </a:extLst>
          </p:cNvPr>
          <p:cNvSpPr/>
          <p:nvPr/>
        </p:nvSpPr>
        <p:spPr>
          <a:xfrm>
            <a:off x="3200397" y="6630734"/>
            <a:ext cx="4709162" cy="85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dirty="0"/>
              <a:t>Approach, Milestones, Timelines</a:t>
            </a:r>
          </a:p>
          <a:p>
            <a:r>
              <a:rPr lang="en-IN" sz="2400" dirty="0"/>
              <a:t>Assumptions, Risks and Touchpoints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7821BEB-2657-FCDC-8948-F6043F5D69E9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E4F5936-CE38-AAE3-C1CD-2E1254C718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1B0B80A4-1348-3719-9D99-23764165BD45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6525BC-F162-DE33-84F2-677123F9B4C3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1748A369-2006-A19E-83BE-9C8595362B82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24D8976B-FDE9-F87F-5C38-221D75F28CA8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50CDCF8A-FD39-C138-1DEE-4EBA8EE4668C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1" name="Shape 12">
            <a:extLst>
              <a:ext uri="{FF2B5EF4-FFF2-40B4-BE49-F238E27FC236}">
                <a16:creationId xmlns:a16="http://schemas.microsoft.com/office/drawing/2014/main" id="{11C59E85-CD6D-3375-DE10-1F436CBD371B}"/>
              </a:ext>
            </a:extLst>
          </p:cNvPr>
          <p:cNvSpPr/>
          <p:nvPr/>
        </p:nvSpPr>
        <p:spPr>
          <a:xfrm>
            <a:off x="1" y="777081"/>
            <a:ext cx="1927861" cy="7621"/>
          </a:xfrm>
          <a:prstGeom prst="rect">
            <a:avLst/>
          </a:prstGeom>
          <a:solidFill>
            <a:srgbClr val="232327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58BD79F9-7BDD-4E96-1F0F-76BFC1EF78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2041" y="0"/>
            <a:ext cx="5928360" cy="7741920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58F6A4A3-4AB1-078D-F9F2-823D080208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9662" y="1253439"/>
            <a:ext cx="5905499" cy="5905499"/>
          </a:xfrm>
          <a:prstGeom prst="rect">
            <a:avLst/>
          </a:prstGeom>
        </p:spPr>
      </p:pic>
      <p:sp>
        <p:nvSpPr>
          <p:cNvPr id="6" name="Text 14">
            <a:extLst>
              <a:ext uri="{FF2B5EF4-FFF2-40B4-BE49-F238E27FC236}">
                <a16:creationId xmlns:a16="http://schemas.microsoft.com/office/drawing/2014/main" id="{81AD607C-F804-E232-8193-7AD05D105554}"/>
              </a:ext>
            </a:extLst>
          </p:cNvPr>
          <p:cNvSpPr/>
          <p:nvPr/>
        </p:nvSpPr>
        <p:spPr>
          <a:xfrm>
            <a:off x="609601" y="845662"/>
            <a:ext cx="131826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12"/>
              </a:lnSpc>
            </a:pPr>
            <a:r>
              <a:rPr lang="en-US" sz="912" dirty="0">
                <a:solidFill>
                  <a:srgbClr val="232327">
                    <a:alpha val="99000"/>
                  </a:srgbClr>
                </a:solidFill>
                <a:latin typeface="Andale Mono" panose="020B0509000000000004" pitchFamily="49" charset="0"/>
                <a:ea typeface="IBM Plex Mono" pitchFamily="34" charset="-122"/>
                <a:cs typeface="IBM Plex Mono" pitchFamily="34" charset="-120"/>
              </a:rPr>
              <a:t>SAFEIN5 - PROPOSAL</a:t>
            </a:r>
            <a:endParaRPr lang="en-US" sz="912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66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977566" y="739142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609601" y="1251955"/>
            <a:ext cx="192786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6C7ED8AC-75F0-A4F9-EF01-8BEB90909C9C}"/>
              </a:ext>
            </a:extLst>
          </p:cNvPr>
          <p:cNvSpPr/>
          <p:nvPr/>
        </p:nvSpPr>
        <p:spPr>
          <a:xfrm>
            <a:off x="3100526" y="1007254"/>
            <a:ext cx="72522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2800" dirty="0">
                <a:solidFill>
                  <a:srgbClr val="030303"/>
                </a:solidFill>
                <a:latin typeface="Calibri" panose="020F0502020204030204" pitchFamily="34" charset="0"/>
                <a:ea typeface="Montserrat Semi Bold" pitchFamily="34" charset="-122"/>
                <a:cs typeface="Calibri" panose="020F0502020204030204" pitchFamily="34" charset="0"/>
              </a:rPr>
              <a:t>Approach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FD6101D-A870-4E76-C2A4-7E8772A29DBB}"/>
              </a:ext>
            </a:extLst>
          </p:cNvPr>
          <p:cNvSpPr/>
          <p:nvPr/>
        </p:nvSpPr>
        <p:spPr>
          <a:xfrm>
            <a:off x="3104503" y="2145387"/>
            <a:ext cx="4964459" cy="1957625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488AA5E8-7639-8D84-C371-7BC37555BB45}"/>
              </a:ext>
            </a:extLst>
          </p:cNvPr>
          <p:cNvSpPr/>
          <p:nvPr/>
        </p:nvSpPr>
        <p:spPr>
          <a:xfrm>
            <a:off x="3361798" y="2377968"/>
            <a:ext cx="45477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Discovery and Scope Sign off</a:t>
            </a:r>
            <a:endParaRPr lang="en-US" sz="22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027DB31-C052-C5B9-B7F7-39597F07519D}"/>
              </a:ext>
            </a:extLst>
          </p:cNvPr>
          <p:cNvSpPr/>
          <p:nvPr/>
        </p:nvSpPr>
        <p:spPr>
          <a:xfrm>
            <a:off x="3334022" y="2847736"/>
            <a:ext cx="444191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Validate user journeys, finalize UX Design,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Signoff on MVP Scope based on budget,</a:t>
            </a:r>
            <a:b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priorities and timeline </a:t>
            </a:r>
            <a:endParaRPr lang="en-US" sz="17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3F0EE2E-EFA8-58AF-E3B9-2A58C93E33E5}"/>
              </a:ext>
            </a:extLst>
          </p:cNvPr>
          <p:cNvSpPr/>
          <p:nvPr/>
        </p:nvSpPr>
        <p:spPr>
          <a:xfrm>
            <a:off x="8429433" y="2145387"/>
            <a:ext cx="5138290" cy="1900721"/>
          </a:xfrm>
          <a:prstGeom prst="roundRect">
            <a:avLst>
              <a:gd name="adj" fmla="val 196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86EEAD13-2D51-9DEE-B528-A28B5314D919}"/>
              </a:ext>
            </a:extLst>
          </p:cNvPr>
          <p:cNvSpPr/>
          <p:nvPr/>
        </p:nvSpPr>
        <p:spPr>
          <a:xfrm>
            <a:off x="8686726" y="24026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MVP Development</a:t>
            </a:r>
            <a:endParaRPr lang="en-US" sz="22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91E164D-B131-92F4-9A7F-AC0309A137EB}"/>
              </a:ext>
            </a:extLst>
          </p:cNvPr>
          <p:cNvSpPr/>
          <p:nvPr/>
        </p:nvSpPr>
        <p:spPr>
          <a:xfrm>
            <a:off x="8705261" y="2769126"/>
            <a:ext cx="47080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Build and deploy in staging the end-end SafeIn5 MVP for Community and Corporate users</a:t>
            </a:r>
            <a:endParaRPr lang="en-US" sz="175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BB39A8BA-9816-241D-5E37-7924E9567912}"/>
              </a:ext>
            </a:extLst>
          </p:cNvPr>
          <p:cNvSpPr/>
          <p:nvPr/>
        </p:nvSpPr>
        <p:spPr>
          <a:xfrm>
            <a:off x="3100526" y="4183491"/>
            <a:ext cx="4964459" cy="2592705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56B964A-4BA7-C0EE-DB8D-BAD138D17D56}"/>
              </a:ext>
            </a:extLst>
          </p:cNvPr>
          <p:cNvSpPr/>
          <p:nvPr/>
        </p:nvSpPr>
        <p:spPr>
          <a:xfrm>
            <a:off x="3361797" y="4360307"/>
            <a:ext cx="32244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</a:rPr>
              <a:t>UAT and Signoff</a:t>
            </a:r>
            <a:endParaRPr lang="en-US" sz="2200" dirty="0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089F0A2-93B2-3215-07E2-7719F11F9310}"/>
              </a:ext>
            </a:extLst>
          </p:cNvPr>
          <p:cNvSpPr/>
          <p:nvPr/>
        </p:nvSpPr>
        <p:spPr>
          <a:xfrm>
            <a:off x="3361797" y="4850726"/>
            <a:ext cx="470716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MVP Validation by SafeIn5, </a:t>
            </a:r>
            <a:b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</a:b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Feedback resolution and formal acceptance. </a:t>
            </a:r>
            <a:endParaRPr lang="en-US" sz="175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D131691F-5490-7E5A-4570-7004877E2720}"/>
              </a:ext>
            </a:extLst>
          </p:cNvPr>
          <p:cNvSpPr/>
          <p:nvPr/>
        </p:nvSpPr>
        <p:spPr>
          <a:xfrm>
            <a:off x="8429433" y="4183491"/>
            <a:ext cx="5138290" cy="2592705"/>
          </a:xfrm>
          <a:prstGeom prst="roundRect">
            <a:avLst>
              <a:gd name="adj" fmla="val 131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5170AED6-A35F-3ACF-DD61-34FAB4673CA0}"/>
              </a:ext>
            </a:extLst>
          </p:cNvPr>
          <p:cNvSpPr/>
          <p:nvPr/>
        </p:nvSpPr>
        <p:spPr>
          <a:xfrm>
            <a:off x="8686726" y="4360307"/>
            <a:ext cx="44891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64646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Post MVP support</a:t>
            </a:r>
            <a:endParaRPr lang="en-US" sz="22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4F81AA2C-3F68-030E-A249-A4CB40F09A8A}"/>
              </a:ext>
            </a:extLst>
          </p:cNvPr>
          <p:cNvSpPr/>
          <p:nvPr/>
        </p:nvSpPr>
        <p:spPr>
          <a:xfrm>
            <a:off x="8723797" y="4850726"/>
            <a:ext cx="46709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 support team to be setup on T&amp;M basis post the MVP delivery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7C998E-02C8-CFBC-17CA-EEAC3B936A54}"/>
              </a:ext>
            </a:extLst>
          </p:cNvPr>
          <p:cNvSpPr txBox="1"/>
          <p:nvPr/>
        </p:nvSpPr>
        <p:spPr>
          <a:xfrm>
            <a:off x="3081569" y="1634779"/>
            <a:ext cx="9966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 phased delivery approach focused on early validation, incremental development to de-risk the project </a:t>
            </a:r>
          </a:p>
        </p:txBody>
      </p:sp>
    </p:spTree>
    <p:extLst>
      <p:ext uri="{BB962C8B-B14F-4D97-AF65-F5344CB8AC3E}">
        <p14:creationId xmlns:p14="http://schemas.microsoft.com/office/powerpoint/2010/main" val="14817881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296562" y="1251955"/>
            <a:ext cx="2384854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Milestones &amp; Deliverables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512931"/>
            <a:ext cx="10465361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MVP development is organized into parallel work streams – PWA and Admin, with milestones structured to deliver end-end features that can be validated by users, not just demonstrated.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F5E512-009A-5B8C-6B05-017946122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895092"/>
              </p:ext>
            </p:extLst>
          </p:nvPr>
        </p:nvGraphicFramePr>
        <p:xfrm>
          <a:off x="3200399" y="2251977"/>
          <a:ext cx="10169612" cy="5337387"/>
        </p:xfrm>
        <a:graphic>
          <a:graphicData uri="http://schemas.openxmlformats.org/drawingml/2006/table">
            <a:tbl>
              <a:tblPr/>
              <a:tblGrid>
                <a:gridCol w="3448724">
                  <a:extLst>
                    <a:ext uri="{9D8B030D-6E8A-4147-A177-3AD203B41FA5}">
                      <a16:colId xmlns:a16="http://schemas.microsoft.com/office/drawing/2014/main" val="2371394313"/>
                    </a:ext>
                  </a:extLst>
                </a:gridCol>
                <a:gridCol w="6720888">
                  <a:extLst>
                    <a:ext uri="{9D8B030D-6E8A-4147-A177-3AD203B41FA5}">
                      <a16:colId xmlns:a16="http://schemas.microsoft.com/office/drawing/2014/main" val="3155870652"/>
                    </a:ext>
                  </a:extLst>
                </a:gridCol>
              </a:tblGrid>
              <a:tr h="210961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</a:t>
                      </a: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Key Activities</a:t>
                      </a:r>
                      <a:endParaRPr lang="en-IN" sz="18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88952"/>
                  </a:ext>
                </a:extLst>
              </a:tr>
              <a:tr h="685624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1 – Discovery &amp; UX Design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Stakeholder workshops, user journey validation, UX design, architecture discussion, MVP scope prioritization and finalization</a:t>
                      </a: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061888"/>
                  </a:ext>
                </a:extLst>
              </a:tr>
              <a:tr h="1160286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2 – Foundation &amp; PULSE MVP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 &amp; Platform:</a:t>
                      </a: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Tenant setup, user management, authentication, authorization, site/sub-site configuration, basic content uploaded to test the PULSE flow.</a:t>
                      </a:r>
                      <a:b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PWA:</a:t>
                      </a: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PWA shell, branding/theme framework, PULSE flow, signal capture – Image, voice notes,  media upload and save and share</a:t>
                      </a: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57775"/>
                  </a:ext>
                </a:extLst>
              </a:tr>
              <a:tr h="1160286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3 – Context, Learning &amp; Workflow Foundation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 &amp; Platform:</a:t>
                      </a:r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Learn 5 management, QR management, context configuration, feed management, signal workflow foundation.</a:t>
                      </a:r>
                      <a:b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PWA:</a:t>
                      </a:r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QR-driven contextual journeys, contextual PULSE experiences, Learn 5 consumption, feed experience, search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72550"/>
                  </a:ext>
                </a:extLst>
              </a:tr>
              <a:tr h="1318507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4 – Supervisor, Analytics &amp; Platform Completion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b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Admin &amp; Platform:</a:t>
                      </a:r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Supervisor workflows, approvals, notifications, analytics dashboards, moderation, reporting, GDPR compliance, deployment readiness.</a:t>
                      </a:r>
                      <a:b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PWA:</a:t>
                      </a:r>
                      <a:r>
                        <a:rPr lang="en-IN" sz="14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 Anonymous reporting, community feed, notifications, worker feedback loop, remaining user experience enhancements.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795852"/>
                  </a:ext>
                </a:extLst>
              </a:tr>
              <a:tr h="685624">
                <a:tc>
                  <a:txBody>
                    <a:bodyPr/>
                    <a:lstStyle/>
                    <a:p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5 – UAT &amp; Sign-off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End-to-end user acceptance testing, defect resolution and handover documentation.</a:t>
                      </a:r>
                    </a:p>
                  </a:txBody>
                  <a:tcPr marL="52740" marR="52740" marT="26370" marB="263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754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5200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296562" y="1251955"/>
            <a:ext cx="2384854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Delivery timelines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512931"/>
            <a:ext cx="10465361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F5E512-009A-5B8C-6B05-017946122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052575"/>
              </p:ext>
            </p:extLst>
          </p:nvPr>
        </p:nvGraphicFramePr>
        <p:xfrm>
          <a:off x="3200400" y="1775288"/>
          <a:ext cx="11049002" cy="5752824"/>
        </p:xfrm>
        <a:graphic>
          <a:graphicData uri="http://schemas.openxmlformats.org/drawingml/2006/table">
            <a:tbl>
              <a:tblPr/>
              <a:tblGrid>
                <a:gridCol w="2001796">
                  <a:extLst>
                    <a:ext uri="{9D8B030D-6E8A-4147-A177-3AD203B41FA5}">
                      <a16:colId xmlns:a16="http://schemas.microsoft.com/office/drawing/2014/main" val="2371394313"/>
                    </a:ext>
                  </a:extLst>
                </a:gridCol>
                <a:gridCol w="4015946">
                  <a:extLst>
                    <a:ext uri="{9D8B030D-6E8A-4147-A177-3AD203B41FA5}">
                      <a16:colId xmlns:a16="http://schemas.microsoft.com/office/drawing/2014/main" val="3155870652"/>
                    </a:ext>
                  </a:extLst>
                </a:gridCol>
                <a:gridCol w="1285102">
                  <a:extLst>
                    <a:ext uri="{9D8B030D-6E8A-4147-A177-3AD203B41FA5}">
                      <a16:colId xmlns:a16="http://schemas.microsoft.com/office/drawing/2014/main" val="1117637061"/>
                    </a:ext>
                  </a:extLst>
                </a:gridCol>
                <a:gridCol w="1940011">
                  <a:extLst>
                    <a:ext uri="{9D8B030D-6E8A-4147-A177-3AD203B41FA5}">
                      <a16:colId xmlns:a16="http://schemas.microsoft.com/office/drawing/2014/main" val="992474656"/>
                    </a:ext>
                  </a:extLst>
                </a:gridCol>
                <a:gridCol w="1806147">
                  <a:extLst>
                    <a:ext uri="{9D8B030D-6E8A-4147-A177-3AD203B41FA5}">
                      <a16:colId xmlns:a16="http://schemas.microsoft.com/office/drawing/2014/main" val="744194326"/>
                    </a:ext>
                  </a:extLst>
                </a:gridCol>
              </a:tblGrid>
              <a:tr h="560664"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Deliverables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Timeline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Talentica</a:t>
                      </a:r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Responsibility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SafeIn5 Responsibility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788952"/>
                  </a:ext>
                </a:extLst>
              </a:tr>
              <a:tr h="645913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1 – Discovery &amp; UX Design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Agreed user journeys, detailed UX design, validated technical approach, and a prioritized MVP scope baseline. </a:t>
                      </a:r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Maximum 2 concepts to be provided and arrive at one detailed design</a:t>
                      </a:r>
                      <a:b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Weeks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Provide 2 concepts and one detailed end –end design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UX and MVP Scope Signoff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061888"/>
                  </a:ext>
                </a:extLst>
              </a:tr>
              <a:tr h="108173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2 – Foundation &amp; PULSE MVP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End-to-end PULSE and signal capture journey operational, allowing users to sign in, complete a PULSE flow, capture a behavioural signal, and submit it.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 weeks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Features deployed on Staging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 data availability and Feature signoff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4557775"/>
                  </a:ext>
                </a:extLst>
              </a:tr>
              <a:tr h="108173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3 – Context, Learning &amp; Workflow Foundation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Context-aware worker experience operational with QR routing, learning content, contextual feeds, and workflow integration.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weeks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Features deployed on Staging</a:t>
                      </a:r>
                    </a:p>
                    <a:p>
                      <a:pPr algn="l"/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 data availability and Feature signoff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972550"/>
                  </a:ext>
                </a:extLst>
              </a:tr>
              <a:tr h="1229239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4 – Supervisor, Analytics &amp; Platform Completion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Complete MVP delivered for workers, supervisors, and administrators with workflows, analytics, notifications, governance, and reporting capabilities on staging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 weeks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Features deployed on Staging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Feature signoff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795852"/>
                  </a:ext>
                </a:extLst>
              </a:tr>
              <a:tr h="639205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Milestone 5 – UAT &amp; Sign-off</a:t>
                      </a:r>
                      <a:endParaRPr lang="en-IN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Business-validated MVP formally accepted and ready for production deployment.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 weeks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Feedback incorporation and production rollout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MVP signoff</a:t>
                      </a:r>
                    </a:p>
                  </a:txBody>
                  <a:tcPr marL="52740" marR="52740" marT="26370" marB="2637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4754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331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312422" y="1251955"/>
            <a:ext cx="245549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b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</a:b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SLA’s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Recommended SLA’s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400" y="1671054"/>
            <a:ext cx="8447809" cy="593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We propose the following SLA’s for timely delivery of the SafeIn5 MVP platform</a:t>
            </a:r>
          </a:p>
          <a:p>
            <a:b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Milestone Governance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Milestone Signoff – 3-5 business days from submission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Final MVP Signoff – 1-2 weeks from submission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UAT Closure – 2 weeks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Scope freeze after discovery – 1 week</a:t>
            </a:r>
          </a:p>
          <a:p>
            <a:endParaRPr lang="en-US" kern="1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UX Design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Concept Validation turn around time – &lt;3 days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UX Design – 3-5 days</a:t>
            </a:r>
          </a:p>
          <a:p>
            <a:endParaRPr lang="en-US" kern="1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Change Resolution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Acknowledgement – 1-2 business days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Impact Analysis – 2-3 business days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Approval - &lt; 3days</a:t>
            </a:r>
          </a:p>
          <a:p>
            <a:pPr marL="342900" indent="-342900">
              <a:buAutoNum type="arabicPeriod"/>
            </a:pPr>
            <a:endParaRPr lang="en-US" kern="1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Environment availability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Staging availability – 95%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Release to staging frequency – End of each milestone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Production roll out – Milestone 5</a:t>
            </a:r>
          </a:p>
          <a:p>
            <a:endParaRPr lang="en-US" kern="1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341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312422" y="1251955"/>
            <a:ext cx="2455491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DELIVERY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Assumptions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400" y="1671054"/>
            <a:ext cx="8447809" cy="3420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following assumptions have been made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SafeIn5 will provide </a:t>
            </a:r>
            <a:r>
              <a:rPr lang="en-US" kern="100" dirty="0" err="1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Talentica</a:t>
            </a: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 with the cloud account for the dev, staging and production environments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Test Data for MVP validation to be provided by SafeIn5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The cost and timelines proposed are limited to the MVP ( Phase 1) scope defined in SafeIn5 Dev Pack V9 </a:t>
            </a:r>
            <a:r>
              <a:rPr lang="en-US" kern="100" dirty="0" err="1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Issue.pdf</a:t>
            </a: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.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Any scope change will follow the formal change request process where in the change is logged, impact analyzed ( cost, timeline and effort) and approved by SafeIn5 before implementation.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SafeIn5 will provide timely access to decision makers, decisions and test data within SLA’s</a:t>
            </a:r>
          </a:p>
          <a:p>
            <a:pPr marL="342900" indent="-342900">
              <a:buAutoNum type="arabicPeriod"/>
            </a:pP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All estimates assume usage of AI tools such as cursor and </a:t>
            </a:r>
            <a:r>
              <a:rPr lang="en-US" kern="100" dirty="0" err="1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claude</a:t>
            </a: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 code. The cost of tool is included in the estimates.</a:t>
            </a:r>
          </a:p>
          <a:p>
            <a:pPr marL="342900" indent="-342900">
              <a:buAutoNum type="arabicPeriod"/>
            </a:pPr>
            <a:endParaRPr lang="en-US" kern="100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B625412D-7780-DCB4-2E64-7A174DB9463D}"/>
              </a:ext>
            </a:extLst>
          </p:cNvPr>
          <p:cNvSpPr/>
          <p:nvPr/>
        </p:nvSpPr>
        <p:spPr>
          <a:xfrm>
            <a:off x="3118022" y="5407232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Risks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F436F3B3-1D9B-D693-DCE2-8710B3EFFFDD}"/>
              </a:ext>
            </a:extLst>
          </p:cNvPr>
          <p:cNvSpPr/>
          <p:nvPr/>
        </p:nvSpPr>
        <p:spPr>
          <a:xfrm>
            <a:off x="3118022" y="5933491"/>
            <a:ext cx="10346054" cy="1479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UX design and MVP Scope Signoff within 3 weeks</a:t>
            </a:r>
            <a:b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</a:br>
            <a:r>
              <a:rPr lang="en-US" kern="100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SafeIn5 Team availability for user testing and signoff on features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7994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FC8C-CE55-F394-334E-0BE059BE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E8E6BDC-5A51-1754-2C80-5725C9DCCDF3}"/>
              </a:ext>
            </a:extLst>
          </p:cNvPr>
          <p:cNvSpPr/>
          <p:nvPr/>
        </p:nvSpPr>
        <p:spPr>
          <a:xfrm>
            <a:off x="3200401" y="739141"/>
            <a:ext cx="4709160" cy="140208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488D05A-58AE-0447-CEC1-F2A5346E11BC}"/>
              </a:ext>
            </a:extLst>
          </p:cNvPr>
          <p:cNvSpPr/>
          <p:nvPr/>
        </p:nvSpPr>
        <p:spPr>
          <a:xfrm>
            <a:off x="3200398" y="739141"/>
            <a:ext cx="4868563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5600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COMMERCIALS</a:t>
            </a:r>
            <a:endParaRPr lang="en-US" sz="5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91D80E-6CFA-14EF-530C-00C6C7F5C28D}"/>
              </a:ext>
            </a:extLst>
          </p:cNvPr>
          <p:cNvSpPr/>
          <p:nvPr/>
        </p:nvSpPr>
        <p:spPr>
          <a:xfrm>
            <a:off x="3200397" y="6630734"/>
            <a:ext cx="4709162" cy="85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2400" i="1" dirty="0">
                <a:latin typeface="Calibri" panose="020F0502020204030204" pitchFamily="34" charset="0"/>
                <a:cs typeface="Calibri" panose="020F0502020204030204" pitchFamily="34" charset="0"/>
              </a:rPr>
              <a:t>MVP Cost, Milestone wise cost breakup, Payment schedule</a:t>
            </a:r>
            <a:endParaRPr lang="en-US" sz="2400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7821BEB-2657-FCDC-8948-F6043F5D69E9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0E4F5936-CE38-AAE3-C1CD-2E1254C718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sp>
        <p:nvSpPr>
          <p:cNvPr id="21" name="Shape 13">
            <a:extLst>
              <a:ext uri="{FF2B5EF4-FFF2-40B4-BE49-F238E27FC236}">
                <a16:creationId xmlns:a16="http://schemas.microsoft.com/office/drawing/2014/main" id="{1B0B80A4-1348-3719-9D99-23764165BD45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36525BC-F162-DE33-84F2-677123F9B4C3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27" name="Shape 2">
              <a:extLst>
                <a:ext uri="{FF2B5EF4-FFF2-40B4-BE49-F238E27FC236}">
                  <a16:creationId xmlns:a16="http://schemas.microsoft.com/office/drawing/2014/main" id="{1748A369-2006-A19E-83BE-9C8595362B82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24D8976B-FDE9-F87F-5C38-221D75F28CA8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50CDCF8A-FD39-C138-1DEE-4EBA8EE4668C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31" name="Shape 12">
            <a:extLst>
              <a:ext uri="{FF2B5EF4-FFF2-40B4-BE49-F238E27FC236}">
                <a16:creationId xmlns:a16="http://schemas.microsoft.com/office/drawing/2014/main" id="{11C59E85-CD6D-3375-DE10-1F436CBD371B}"/>
              </a:ext>
            </a:extLst>
          </p:cNvPr>
          <p:cNvSpPr/>
          <p:nvPr/>
        </p:nvSpPr>
        <p:spPr>
          <a:xfrm>
            <a:off x="1" y="777081"/>
            <a:ext cx="1927861" cy="7621"/>
          </a:xfrm>
          <a:prstGeom prst="rect">
            <a:avLst/>
          </a:prstGeom>
          <a:solidFill>
            <a:srgbClr val="232327"/>
          </a:solidFill>
          <a:ln/>
        </p:spPr>
        <p:txBody>
          <a:bodyPr/>
          <a:lstStyle/>
          <a:p>
            <a:endParaRPr lang="en-US" sz="2880"/>
          </a:p>
        </p:txBody>
      </p:sp>
      <p:pic>
        <p:nvPicPr>
          <p:cNvPr id="2" name="Image 0">
            <a:extLst>
              <a:ext uri="{FF2B5EF4-FFF2-40B4-BE49-F238E27FC236}">
                <a16:creationId xmlns:a16="http://schemas.microsoft.com/office/drawing/2014/main" id="{58BD79F9-7BDD-4E96-1F0F-76BFC1EF788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2041" y="0"/>
            <a:ext cx="5928360" cy="7741920"/>
          </a:xfrm>
          <a:prstGeom prst="rect">
            <a:avLst/>
          </a:prstGeom>
        </p:spPr>
      </p:pic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58F6A4A3-4AB1-078D-F9F2-823D0802080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09662" y="1253439"/>
            <a:ext cx="5905499" cy="5905499"/>
          </a:xfrm>
          <a:prstGeom prst="rect">
            <a:avLst/>
          </a:prstGeom>
        </p:spPr>
      </p:pic>
      <p:sp>
        <p:nvSpPr>
          <p:cNvPr id="6" name="Text 14">
            <a:extLst>
              <a:ext uri="{FF2B5EF4-FFF2-40B4-BE49-F238E27FC236}">
                <a16:creationId xmlns:a16="http://schemas.microsoft.com/office/drawing/2014/main" id="{81AD607C-F804-E232-8193-7AD05D105554}"/>
              </a:ext>
            </a:extLst>
          </p:cNvPr>
          <p:cNvSpPr/>
          <p:nvPr/>
        </p:nvSpPr>
        <p:spPr>
          <a:xfrm>
            <a:off x="609601" y="845662"/>
            <a:ext cx="1318261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12"/>
              </a:lnSpc>
            </a:pPr>
            <a:r>
              <a:rPr lang="en-US" sz="912" dirty="0">
                <a:solidFill>
                  <a:srgbClr val="232327">
                    <a:alpha val="99000"/>
                  </a:srgbClr>
                </a:solidFill>
                <a:latin typeface="Andale Mono" panose="020B0509000000000004" pitchFamily="49" charset="0"/>
                <a:ea typeface="IBM Plex Mono" pitchFamily="34" charset="-122"/>
                <a:cs typeface="IBM Plex Mono" pitchFamily="34" charset="-120"/>
              </a:rPr>
              <a:t>SAFEIN5 - PROPOSAL</a:t>
            </a:r>
            <a:endParaRPr lang="en-US" sz="912" dirty="0">
              <a:latin typeface="Andale Mono" panose="020B050900000000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31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F2113CF-2DFD-D361-E2B3-F29308FFB7B5}"/>
              </a:ext>
            </a:extLst>
          </p:cNvPr>
          <p:cNvSpPr/>
          <p:nvPr/>
        </p:nvSpPr>
        <p:spPr>
          <a:xfrm>
            <a:off x="296562" y="1251955"/>
            <a:ext cx="2384854" cy="41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36"/>
              </a:lnSpc>
            </a:pPr>
            <a:r>
              <a:rPr lang="en-US" sz="2736" dirty="0">
                <a:solidFill>
                  <a:srgbClr val="232327">
                    <a:alpha val="99000"/>
                  </a:srgbClr>
                </a:solidFill>
                <a:latin typeface="Segoe UI" panose="020B0502040204020203" pitchFamily="34" charset="0"/>
                <a:ea typeface="Degular Display" pitchFamily="34" charset="-122"/>
                <a:cs typeface="Segoe UI" panose="020B0502040204020203" pitchFamily="34" charset="0"/>
              </a:rPr>
              <a:t>COMMERCIALS</a:t>
            </a:r>
            <a:endParaRPr lang="en-US" sz="2736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D375AA7-B194-798B-BBCA-3DD390D6F6F7}"/>
              </a:ext>
            </a:extLst>
          </p:cNvPr>
          <p:cNvSpPr/>
          <p:nvPr/>
        </p:nvSpPr>
        <p:spPr>
          <a:xfrm>
            <a:off x="3200400" y="1144795"/>
            <a:ext cx="10346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400" b="1" dirty="0">
                <a:latin typeface="Calibri" panose="020F0502020204030204" pitchFamily="34" charset="0"/>
                <a:ea typeface="Inter" pitchFamily="34" charset="-122"/>
                <a:cs typeface="Calibri" panose="020F0502020204030204" pitchFamily="34" charset="0"/>
              </a:rPr>
              <a:t>Commercials and Payment terms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200399" y="6439782"/>
            <a:ext cx="9255212" cy="731520"/>
          </a:xfrm>
          <a:prstGeom prst="rect">
            <a:avLst/>
          </a:prstGeom>
          <a:noFill/>
          <a:ln/>
        </p:spPr>
        <p:txBody>
          <a:bodyPr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64646"/>
                </a:solidFill>
                <a:latin typeface="Calibri" panose="020F0502020204030204" pitchFamily="34" charset="0"/>
                <a:ea typeface="Open Sans Medium" pitchFamily="34" charset="-122"/>
                <a:cs typeface="Calibri" panose="020F0502020204030204" pitchFamily="34" charset="0"/>
              </a:rPr>
              <a:t>Post MVP Support - A support team to be setup on T&amp;M basis post the MVP delivery for minor enhancements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10" name="Text 4">
            <a:extLst>
              <a:ext uri="{FF2B5EF4-FFF2-40B4-BE49-F238E27FC236}">
                <a16:creationId xmlns:a16="http://schemas.microsoft.com/office/drawing/2014/main" id="{771C7087-67B4-4009-D0BA-54BE64A964D9}"/>
              </a:ext>
            </a:extLst>
          </p:cNvPr>
          <p:cNvSpPr/>
          <p:nvPr/>
        </p:nvSpPr>
        <p:spPr>
          <a:xfrm>
            <a:off x="3200399" y="1512931"/>
            <a:ext cx="10465361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0F904825-A940-92CE-D1EA-729B9E9D5D60}"/>
              </a:ext>
            </a:extLst>
          </p:cNvPr>
          <p:cNvSpPr/>
          <p:nvPr/>
        </p:nvSpPr>
        <p:spPr>
          <a:xfrm>
            <a:off x="3200399" y="1671054"/>
            <a:ext cx="8432799" cy="631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project will be executed on a Fixed Price basis.</a:t>
            </a:r>
            <a:b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The estimated cost of the MVP development is GBP 45,000, based on the current high-level scope definition. This will be refined and finalized upon completion of the Discovery phase. Variations from the estimate are expected to be within 15–20%, depending on final scope clarity.</a:t>
            </a:r>
          </a:p>
          <a:p>
            <a:endParaRPr lang="en-US" dirty="0"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  <a:p>
            <a:endParaRPr lang="en-US" sz="2400" b="1" dirty="0">
              <a:solidFill>
                <a:schemeClr val="accent6">
                  <a:lumMod val="50000"/>
                </a:schemeClr>
              </a:solidFill>
              <a:latin typeface="Calibri" panose="020F0502020204030204" pitchFamily="34" charset="0"/>
              <a:ea typeface="Inter" pitchFamily="34" charset="-122"/>
              <a:cs typeface="Calibri" panose="020F050202020403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22C7579-17EF-9E20-34A3-54451D98F8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53687"/>
              </p:ext>
            </p:extLst>
          </p:nvPr>
        </p:nvGraphicFramePr>
        <p:xfrm>
          <a:off x="3200399" y="3704114"/>
          <a:ext cx="8432800" cy="2468880"/>
        </p:xfrm>
        <a:graphic>
          <a:graphicData uri="http://schemas.openxmlformats.org/drawingml/2006/table">
            <a:tbl>
              <a:tblPr/>
              <a:tblGrid>
                <a:gridCol w="4216400">
                  <a:extLst>
                    <a:ext uri="{9D8B030D-6E8A-4147-A177-3AD203B41FA5}">
                      <a16:colId xmlns:a16="http://schemas.microsoft.com/office/drawing/2014/main" val="55872628"/>
                    </a:ext>
                  </a:extLst>
                </a:gridCol>
                <a:gridCol w="4216400">
                  <a:extLst>
                    <a:ext uri="{9D8B030D-6E8A-4147-A177-3AD203B41FA5}">
                      <a16:colId xmlns:a16="http://schemas.microsoft.com/office/drawing/2014/main" val="39259999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Milestone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% Payment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87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Discovery &amp; UX Design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8938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Foundation &amp; PULSE MVP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367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Context, Learning &amp; Workflow Foundation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8722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Supervisor, Analytics &amp; Platform 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767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UAT &amp; Sign-off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857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56352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873DF-9F9A-CE59-237A-906B07CF6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AAF6B75C-06C8-A803-E2BB-319021119FFB}"/>
              </a:ext>
            </a:extLst>
          </p:cNvPr>
          <p:cNvSpPr/>
          <p:nvPr/>
        </p:nvSpPr>
        <p:spPr>
          <a:xfrm>
            <a:off x="3200401" y="739141"/>
            <a:ext cx="4709160" cy="115824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94EAC20-ED77-7886-D9E0-041A04B29D75}"/>
              </a:ext>
            </a:extLst>
          </p:cNvPr>
          <p:cNvSpPr/>
          <p:nvPr/>
        </p:nvSpPr>
        <p:spPr>
          <a:xfrm>
            <a:off x="3489960" y="6286501"/>
            <a:ext cx="2194560" cy="7315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1E60E1AD-5834-A381-F73F-D06412B78321}"/>
              </a:ext>
            </a:extLst>
          </p:cNvPr>
          <p:cNvSpPr/>
          <p:nvPr/>
        </p:nvSpPr>
        <p:spPr>
          <a:xfrm>
            <a:off x="0" y="7917181"/>
            <a:ext cx="2225040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255CD4C-03B9-279A-F7C2-164D1500BA46}"/>
              </a:ext>
            </a:extLst>
          </p:cNvPr>
          <p:cNvSpPr/>
          <p:nvPr/>
        </p:nvSpPr>
        <p:spPr>
          <a:xfrm>
            <a:off x="1" y="861061"/>
            <a:ext cx="1927861" cy="121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 sz="288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B9EB3266-DBE1-D79B-46DB-3A759983D4B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665760" y="368875"/>
            <a:ext cx="583642" cy="37026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89FDC-72FC-A66F-5371-057E5B6A265A}"/>
              </a:ext>
            </a:extLst>
          </p:cNvPr>
          <p:cNvGrpSpPr/>
          <p:nvPr/>
        </p:nvGrpSpPr>
        <p:grpSpPr>
          <a:xfrm>
            <a:off x="1" y="7741920"/>
            <a:ext cx="2148840" cy="297181"/>
            <a:chOff x="0" y="4838700"/>
            <a:chExt cx="1343025" cy="185738"/>
          </a:xfrm>
        </p:grpSpPr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77878017-7546-6755-52CD-7ADEB227DDA8}"/>
                </a:ext>
              </a:extLst>
            </p:cNvPr>
            <p:cNvSpPr/>
            <p:nvPr/>
          </p:nvSpPr>
          <p:spPr>
            <a:xfrm>
              <a:off x="0" y="4838700"/>
              <a:ext cx="1343025" cy="4763"/>
            </a:xfrm>
            <a:prstGeom prst="rect">
              <a:avLst/>
            </a:prstGeom>
            <a:gradFill flip="none" rotWithShape="1">
              <a:gsLst>
                <a:gs pos="0">
                  <a:srgbClr val="5FAF3A"/>
                </a:gs>
                <a:gs pos="99000">
                  <a:srgbClr val="3A5BCC"/>
                </a:gs>
              </a:gsLst>
              <a:lin ang="0" scaled="1"/>
              <a:tileRect/>
            </a:gradFill>
            <a:ln w="6350">
              <a:gradFill flip="none" rotWithShape="1">
                <a:gsLst>
                  <a:gs pos="0">
                    <a:srgbClr val="6ED00B"/>
                  </a:gs>
                  <a:gs pos="100000">
                    <a:srgbClr val="305EFF"/>
                  </a:gs>
                </a:gsLst>
                <a:lin ang="0" scaled="1"/>
                <a:tileRect/>
              </a:gradFill>
            </a:ln>
          </p:spPr>
          <p:txBody>
            <a:bodyPr/>
            <a:lstStyle/>
            <a:p>
              <a:endParaRPr lang="en-US" sz="2880" dirty="0"/>
            </a:p>
          </p:txBody>
        </p:sp>
        <p:sp>
          <p:nvSpPr>
            <p:cNvPr id="31" name="Right Triangle 30">
              <a:extLst>
                <a:ext uri="{FF2B5EF4-FFF2-40B4-BE49-F238E27FC236}">
                  <a16:creationId xmlns:a16="http://schemas.microsoft.com/office/drawing/2014/main" id="{8BCADA75-6BF7-E6ED-DEBA-FC8C87C6F924}"/>
                </a:ext>
              </a:extLst>
            </p:cNvPr>
            <p:cNvSpPr/>
            <p:nvPr/>
          </p:nvSpPr>
          <p:spPr>
            <a:xfrm flipV="1">
              <a:off x="0" y="4845816"/>
              <a:ext cx="331096" cy="109539"/>
            </a:xfrm>
            <a:prstGeom prst="rtTriangle">
              <a:avLst/>
            </a:prstGeom>
            <a:solidFill>
              <a:srgbClr val="5FAF3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80" dirty="0"/>
            </a:p>
          </p:txBody>
        </p:sp>
        <p:sp>
          <p:nvSpPr>
            <p:cNvPr id="48" name="Text 4">
              <a:extLst>
                <a:ext uri="{FF2B5EF4-FFF2-40B4-BE49-F238E27FC236}">
                  <a16:creationId xmlns:a16="http://schemas.microsoft.com/office/drawing/2014/main" id="{53CFBD7D-9693-9E73-1E07-5741710805C6}"/>
                </a:ext>
              </a:extLst>
            </p:cNvPr>
            <p:cNvSpPr/>
            <p:nvPr/>
          </p:nvSpPr>
          <p:spPr>
            <a:xfrm>
              <a:off x="381000" y="4948238"/>
              <a:ext cx="962025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TALENTICA SOFTWARE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1A7C7EE-6EF6-3021-3170-405F67CD677C}"/>
              </a:ext>
            </a:extLst>
          </p:cNvPr>
          <p:cNvGrpSpPr/>
          <p:nvPr/>
        </p:nvGrpSpPr>
        <p:grpSpPr>
          <a:xfrm>
            <a:off x="1" y="777081"/>
            <a:ext cx="1927861" cy="190501"/>
            <a:chOff x="0" y="495300"/>
            <a:chExt cx="1204913" cy="119063"/>
          </a:xfrm>
        </p:grpSpPr>
        <p:sp>
          <p:nvSpPr>
            <p:cNvPr id="51" name="Shape 12">
              <a:extLst>
                <a:ext uri="{FF2B5EF4-FFF2-40B4-BE49-F238E27FC236}">
                  <a16:creationId xmlns:a16="http://schemas.microsoft.com/office/drawing/2014/main" id="{4738276B-676B-57A3-CC2C-6F1B09F55875}"/>
                </a:ext>
              </a:extLst>
            </p:cNvPr>
            <p:cNvSpPr/>
            <p:nvPr/>
          </p:nvSpPr>
          <p:spPr>
            <a:xfrm>
              <a:off x="0" y="495300"/>
              <a:ext cx="1204913" cy="4763"/>
            </a:xfrm>
            <a:prstGeom prst="rect">
              <a:avLst/>
            </a:prstGeom>
            <a:solidFill>
              <a:srgbClr val="232327"/>
            </a:solidFill>
            <a:ln/>
          </p:spPr>
          <p:txBody>
            <a:bodyPr/>
            <a:lstStyle/>
            <a:p>
              <a:endParaRPr lang="en-US" sz="2880"/>
            </a:p>
          </p:txBody>
        </p:sp>
        <p:sp>
          <p:nvSpPr>
            <p:cNvPr id="52" name="Text 14">
              <a:extLst>
                <a:ext uri="{FF2B5EF4-FFF2-40B4-BE49-F238E27FC236}">
                  <a16:creationId xmlns:a16="http://schemas.microsoft.com/office/drawing/2014/main" id="{29B769DD-AD5F-629B-0E61-C3BACDC7C3EC}"/>
                </a:ext>
              </a:extLst>
            </p:cNvPr>
            <p:cNvSpPr/>
            <p:nvPr/>
          </p:nvSpPr>
          <p:spPr>
            <a:xfrm>
              <a:off x="381000" y="538163"/>
              <a:ext cx="823913" cy="76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912"/>
                </a:lnSpc>
              </a:pPr>
              <a:r>
                <a:rPr lang="en-US" sz="912" dirty="0">
                  <a:solidFill>
                    <a:srgbClr val="232327">
                      <a:alpha val="99000"/>
                    </a:srgbClr>
                  </a:solidFill>
                  <a:latin typeface="Andale Mono" panose="020B0509000000000004" pitchFamily="49" charset="0"/>
                  <a:ea typeface="IBM Plex Mono" pitchFamily="34" charset="-122"/>
                  <a:cs typeface="IBM Plex Mono" pitchFamily="34" charset="-120"/>
                </a:rPr>
                <a:t>SAFEIN5 - PROPOSAL</a:t>
              </a:r>
              <a:endParaRPr lang="en-US" sz="912" dirty="0">
                <a:latin typeface="Andale Mono" panose="020B0509000000000004" pitchFamily="49" charset="0"/>
              </a:endParaRPr>
            </a:p>
          </p:txBody>
        </p:sp>
      </p:grpSp>
      <p:sp>
        <p:nvSpPr>
          <p:cNvPr id="6" name="Text 0">
            <a:extLst>
              <a:ext uri="{FF2B5EF4-FFF2-40B4-BE49-F238E27FC236}">
                <a16:creationId xmlns:a16="http://schemas.microsoft.com/office/drawing/2014/main" id="{E3969B55-7774-1090-3E3D-D758DB49315C}"/>
              </a:ext>
            </a:extLst>
          </p:cNvPr>
          <p:cNvSpPr/>
          <p:nvPr/>
        </p:nvSpPr>
        <p:spPr>
          <a:xfrm>
            <a:off x="793790" y="12820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Why </a:t>
            </a:r>
            <a:r>
              <a:rPr lang="en-US" sz="4450" dirty="0" err="1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Talentica</a:t>
            </a:r>
            <a:r>
              <a:rPr lang="en-US" sz="445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?</a:t>
            </a:r>
            <a:endParaRPr lang="en-US" sz="445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E1B404B-F27D-26DB-594D-BA5EF4B16685}"/>
              </a:ext>
            </a:extLst>
          </p:cNvPr>
          <p:cNvSpPr/>
          <p:nvPr/>
        </p:nvSpPr>
        <p:spPr>
          <a:xfrm>
            <a:off x="793790" y="2220158"/>
            <a:ext cx="68845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Montserrat Semi Bold" pitchFamily="34" charset="0"/>
                <a:ea typeface="Montserrat Semi Bold" pitchFamily="34" charset="-122"/>
                <a:cs typeface="Montserrat Semi Bold" pitchFamily="34" charset="-120"/>
              </a:rPr>
              <a:t>Built and scaled 200+ products across domains</a:t>
            </a:r>
            <a:endParaRPr lang="en-US" sz="22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39E9C6F7-1D98-9CEC-B0CC-B52595EA7747}"/>
              </a:ext>
            </a:extLst>
          </p:cNvPr>
          <p:cNvSpPr/>
          <p:nvPr/>
        </p:nvSpPr>
        <p:spPr>
          <a:xfrm>
            <a:off x="793790" y="2914650"/>
            <a:ext cx="13042821" cy="4143613"/>
          </a:xfrm>
          <a:prstGeom prst="roundRect">
            <a:avLst>
              <a:gd name="adj" fmla="val 8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0C8F7834-C869-B401-5110-9DD2A04F76A2}"/>
              </a:ext>
            </a:extLst>
          </p:cNvPr>
          <p:cNvSpPr/>
          <p:nvPr/>
        </p:nvSpPr>
        <p:spPr>
          <a:xfrm>
            <a:off x="801410" y="2922270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FDD1BC57-3542-BFA3-8E22-1EC82BCAC07E}"/>
              </a:ext>
            </a:extLst>
          </p:cNvPr>
          <p:cNvSpPr/>
          <p:nvPr/>
        </p:nvSpPr>
        <p:spPr>
          <a:xfrm>
            <a:off x="1028462" y="306597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Supply Chain &amp; Trust</a:t>
            </a:r>
            <a:endParaRPr lang="en-US" sz="175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4D993BC0-2C19-D08E-0AD2-95A7850B1FC9}"/>
              </a:ext>
            </a:extLst>
          </p:cNvPr>
          <p:cNvSpPr/>
          <p:nvPr/>
        </p:nvSpPr>
        <p:spPr>
          <a:xfrm>
            <a:off x="4289108" y="306597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Autodesk - Construction</a:t>
            </a:r>
            <a:endParaRPr lang="en-US" sz="1750" dirty="0"/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E2DE307D-F048-4577-F00F-25B905E63BC7}"/>
              </a:ext>
            </a:extLst>
          </p:cNvPr>
          <p:cNvSpPr/>
          <p:nvPr/>
        </p:nvSpPr>
        <p:spPr>
          <a:xfrm>
            <a:off x="7545943" y="3065978"/>
            <a:ext cx="27955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Compliance</a:t>
            </a:r>
            <a:endParaRPr lang="en-US" sz="175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E1EDC024-AA2F-A63F-CCEA-61197175BBBA}"/>
              </a:ext>
            </a:extLst>
          </p:cNvPr>
          <p:cNvSpPr/>
          <p:nvPr/>
        </p:nvSpPr>
        <p:spPr>
          <a:xfrm>
            <a:off x="10802779" y="3065978"/>
            <a:ext cx="27993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Field workers</a:t>
            </a:r>
            <a:endParaRPr lang="en-US" sz="175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CFEE3481-0146-8D9F-E271-3811044F9CE2}"/>
              </a:ext>
            </a:extLst>
          </p:cNvPr>
          <p:cNvSpPr/>
          <p:nvPr/>
        </p:nvSpPr>
        <p:spPr>
          <a:xfrm>
            <a:off x="801410" y="3572589"/>
            <a:ext cx="13027581" cy="137612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F387E608-810F-BEBD-F16F-55E59F8EA0F4}"/>
              </a:ext>
            </a:extLst>
          </p:cNvPr>
          <p:cNvSpPr/>
          <p:nvPr/>
        </p:nvSpPr>
        <p:spPr>
          <a:xfrm>
            <a:off x="1028462" y="3716298"/>
            <a:ext cx="279939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Provenance Chain Network, Agritech Traceability POC</a:t>
            </a:r>
            <a:endParaRPr lang="en-US" sz="175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727B7400-E5F2-6B24-F31D-13D569FDC053}"/>
              </a:ext>
            </a:extLst>
          </p:cNvPr>
          <p:cNvSpPr/>
          <p:nvPr/>
        </p:nvSpPr>
        <p:spPr>
          <a:xfrm>
            <a:off x="4289108" y="371629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have developed iOS/Android app to for usage in the field (construction sites). Primarily to create and update issues, reference project documents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DE03F713-C514-D2B4-D8C8-2192E285255B}"/>
              </a:ext>
            </a:extLst>
          </p:cNvPr>
          <p:cNvSpPr/>
          <p:nvPr/>
        </p:nvSpPr>
        <p:spPr>
          <a:xfrm>
            <a:off x="7545943" y="3716298"/>
            <a:ext cx="27955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Credila Audit Module, Fintech AML Compliance</a:t>
            </a:r>
            <a:endParaRPr lang="en-US" sz="175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FD4746B2-EE43-1337-0ACE-112D18BEC421}"/>
              </a:ext>
            </a:extLst>
          </p:cNvPr>
          <p:cNvSpPr/>
          <p:nvPr/>
        </p:nvSpPr>
        <p:spPr>
          <a:xfrm>
            <a:off x="10802779" y="3716298"/>
            <a:ext cx="27993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IN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Developed a PWA for agriculture field workers. Requirement was to provide ability to upload images, videos regarding crops, growth, daily progress etc. </a:t>
            </a:r>
            <a:endParaRPr lang="en-US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2DB2C2B4-29B4-87CC-47C9-3A2626B86762}"/>
              </a:ext>
            </a:extLst>
          </p:cNvPr>
          <p:cNvSpPr/>
          <p:nvPr/>
        </p:nvSpPr>
        <p:spPr>
          <a:xfrm>
            <a:off x="1028462" y="5092422"/>
            <a:ext cx="279939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Designed blockchain-based provenance architecture; integrated complex supplier hierarchies</a:t>
            </a:r>
            <a:endParaRPr lang="en-US" sz="175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52D007B1-2072-B071-30D4-7582080AC69F}"/>
              </a:ext>
            </a:extLst>
          </p:cNvPr>
          <p:cNvSpPr/>
          <p:nvPr/>
        </p:nvSpPr>
        <p:spPr>
          <a:xfrm>
            <a:off x="7545943" y="5092422"/>
            <a:ext cx="27955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Open Sans Medium" pitchFamily="34" charset="0"/>
                <a:ea typeface="Open Sans Medium" pitchFamily="34" charset="-122"/>
                <a:cs typeface="Open Sans Medium" pitchFamily="34" charset="-120"/>
              </a:rPr>
              <a:t>Built audit-friendly systems with versioning, trace logs, and regulatory export formats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880842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1763</TotalTime>
  <Words>3702</Words>
  <Application>Microsoft Macintosh PowerPoint</Application>
  <PresentationFormat>Custom</PresentationFormat>
  <Paragraphs>568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Montserrat Semi Bold</vt:lpstr>
      <vt:lpstr>Calibri</vt:lpstr>
      <vt:lpstr>Open Sans</vt:lpstr>
      <vt:lpstr>Segoe UI</vt:lpstr>
      <vt:lpstr>Open Sans Medium</vt:lpstr>
      <vt:lpstr>Symbol</vt:lpstr>
      <vt:lpstr>Andale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Manjusha Madabushi</cp:lastModifiedBy>
  <cp:revision>26</cp:revision>
  <dcterms:created xsi:type="dcterms:W3CDTF">2025-07-23T06:14:17Z</dcterms:created>
  <dcterms:modified xsi:type="dcterms:W3CDTF">2026-06-09T10:19:57Z</dcterms:modified>
</cp:coreProperties>
</file>